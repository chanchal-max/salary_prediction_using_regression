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13"/>
  </p:notesMasterIdLst>
  <p:sldIdLst>
    <p:sldId id="256" r:id="rId2"/>
    <p:sldId id="257" r:id="rId3"/>
    <p:sldId id="258" r:id="rId4"/>
    <p:sldId id="259" r:id="rId5"/>
    <p:sldId id="268" r:id="rId6"/>
    <p:sldId id="260" r:id="rId7"/>
    <p:sldId id="261" r:id="rId8"/>
    <p:sldId id="262" r:id="rId9"/>
    <p:sldId id="263" r:id="rId10"/>
    <p:sldId id="264" r:id="rId11"/>
    <p:sldId id="267" r:id="rId1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ADA4"/>
    <a:srgbClr val="FBF2AF"/>
    <a:srgbClr val="D1A6F8"/>
    <a:srgbClr val="AB5ABE"/>
    <a:srgbClr val="B774F4"/>
    <a:srgbClr val="0B7B56"/>
    <a:srgbClr val="10B981"/>
    <a:srgbClr val="F7C9F3"/>
    <a:srgbClr val="C4B5FD"/>
    <a:srgbClr val="A188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6580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736025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470771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5471562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371560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709291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5773774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3393283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8050095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7351721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8136779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456170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0400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3/12/2026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57916259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74920" y="640079"/>
            <a:ext cx="3726180" cy="437083"/>
          </a:xfrm>
          <a:prstGeom prst="rect">
            <a:avLst/>
          </a:prstGeom>
          <a:noFill/>
          <a:ln/>
        </p:spPr>
        <p:txBody>
          <a:bodyPr wrap="square" lIns="0" tIns="0" rIns="0" bIns="0" rtlCol="0" anchor="ctr"/>
          <a:lstStyle/>
          <a:p>
            <a:pPr marL="0" indent="0" algn="ctr">
              <a:buNone/>
            </a:pPr>
            <a:endParaRPr lang="en-US" dirty="0"/>
          </a:p>
        </p:txBody>
      </p:sp>
      <p:sp>
        <p:nvSpPr>
          <p:cNvPr id="3" name="Text 1"/>
          <p:cNvSpPr/>
          <p:nvPr/>
        </p:nvSpPr>
        <p:spPr>
          <a:xfrm>
            <a:off x="548640" y="1920240"/>
            <a:ext cx="8046720" cy="640080"/>
          </a:xfrm>
          <a:prstGeom prst="rect">
            <a:avLst/>
          </a:prstGeom>
          <a:noFill/>
          <a:ln/>
        </p:spPr>
        <p:txBody>
          <a:bodyPr wrap="square" lIns="0" tIns="0" rIns="0" bIns="0" rtlCol="0" anchor="ctr"/>
          <a:lstStyle/>
          <a:p>
            <a:pPr marL="0" indent="0" algn="ctr">
              <a:buNone/>
            </a:pPr>
            <a:endParaRPr lang="en-US" sz="2800" dirty="0"/>
          </a:p>
        </p:txBody>
      </p:sp>
      <p:sp>
        <p:nvSpPr>
          <p:cNvPr id="5" name="Text 3"/>
          <p:cNvSpPr/>
          <p:nvPr/>
        </p:nvSpPr>
        <p:spPr>
          <a:xfrm>
            <a:off x="548640" y="2779776"/>
            <a:ext cx="8046720" cy="411480"/>
          </a:xfrm>
          <a:prstGeom prst="rect">
            <a:avLst/>
          </a:prstGeom>
          <a:noFill/>
          <a:ln/>
        </p:spPr>
        <p:txBody>
          <a:bodyPr wrap="square" lIns="0" tIns="0" rIns="0" bIns="0" rtlCol="0" anchor="ctr"/>
          <a:lstStyle/>
          <a:p>
            <a:pPr marL="0" indent="0" algn="ctr">
              <a:buNone/>
            </a:pPr>
            <a:endParaRPr lang="en-US" sz="1500" dirty="0">
              <a:solidFill>
                <a:srgbClr val="C4B5FD"/>
              </a:solidFill>
            </a:endParaRPr>
          </a:p>
        </p:txBody>
      </p:sp>
      <p:sp>
        <p:nvSpPr>
          <p:cNvPr id="6" name="Text 4"/>
          <p:cNvSpPr/>
          <p:nvPr/>
        </p:nvSpPr>
        <p:spPr>
          <a:xfrm>
            <a:off x="548640" y="3840480"/>
            <a:ext cx="8046720" cy="365760"/>
          </a:xfrm>
          <a:prstGeom prst="rect">
            <a:avLst/>
          </a:prstGeom>
          <a:noFill/>
          <a:ln/>
        </p:spPr>
        <p:txBody>
          <a:bodyPr wrap="square" lIns="0" tIns="0" rIns="0" bIns="0" rtlCol="0" anchor="ctr"/>
          <a:lstStyle/>
          <a:p>
            <a:pPr marL="0" indent="0" algn="ctr">
              <a:buNone/>
            </a:pPr>
            <a:endParaRPr lang="en-US" sz="1300" dirty="0"/>
          </a:p>
        </p:txBody>
      </p:sp>
      <p:sp>
        <p:nvSpPr>
          <p:cNvPr id="7" name="Shape 0">
            <a:extLst>
              <a:ext uri="{FF2B5EF4-FFF2-40B4-BE49-F238E27FC236}">
                <a16:creationId xmlns:a16="http://schemas.microsoft.com/office/drawing/2014/main" id="{023A8CC6-23AC-4A97-A603-4F6DC635FD7E}"/>
              </a:ext>
            </a:extLst>
          </p:cNvPr>
          <p:cNvSpPr/>
          <p:nvPr/>
        </p:nvSpPr>
        <p:spPr>
          <a:xfrm>
            <a:off x="3657" y="1788"/>
            <a:ext cx="4754880" cy="5143500"/>
          </a:xfrm>
          <a:prstGeom prst="rect">
            <a:avLst/>
          </a:prstGeom>
          <a:solidFill>
            <a:srgbClr val="7C3AED"/>
          </a:solidFill>
          <a:ln w="12700">
            <a:solidFill>
              <a:srgbClr val="7C3AED"/>
            </a:solidFill>
            <a:prstDash val="solid"/>
          </a:ln>
        </p:spPr>
      </p:sp>
      <p:sp>
        <p:nvSpPr>
          <p:cNvPr id="8" name="Shape 1">
            <a:extLst>
              <a:ext uri="{FF2B5EF4-FFF2-40B4-BE49-F238E27FC236}">
                <a16:creationId xmlns:a16="http://schemas.microsoft.com/office/drawing/2014/main" id="{15376A78-B753-4D6A-97C4-93E05D8CCA70}"/>
              </a:ext>
            </a:extLst>
          </p:cNvPr>
          <p:cNvSpPr/>
          <p:nvPr/>
        </p:nvSpPr>
        <p:spPr>
          <a:xfrm>
            <a:off x="-168250" y="-201168"/>
            <a:ext cx="2011680" cy="2011680"/>
          </a:xfrm>
          <a:prstGeom prst="ellipse">
            <a:avLst/>
          </a:prstGeom>
          <a:solidFill>
            <a:srgbClr val="EC4899">
              <a:alpha val="40000"/>
            </a:srgbClr>
          </a:solidFill>
          <a:ln w="12700">
            <a:solidFill>
              <a:srgbClr val="EC4899">
                <a:alpha val="40000"/>
              </a:srgbClr>
            </a:solidFill>
            <a:prstDash val="solid"/>
          </a:ln>
        </p:spPr>
      </p:sp>
      <p:sp>
        <p:nvSpPr>
          <p:cNvPr id="10" name="TextBox 9">
            <a:extLst>
              <a:ext uri="{FF2B5EF4-FFF2-40B4-BE49-F238E27FC236}">
                <a16:creationId xmlns:a16="http://schemas.microsoft.com/office/drawing/2014/main" id="{C52F0EB2-F6EB-4824-83EB-A2B1D7E5048E}"/>
              </a:ext>
            </a:extLst>
          </p:cNvPr>
          <p:cNvSpPr txBox="1"/>
          <p:nvPr/>
        </p:nvSpPr>
        <p:spPr>
          <a:xfrm>
            <a:off x="548640" y="1296619"/>
            <a:ext cx="4659782" cy="954107"/>
          </a:xfrm>
          <a:prstGeom prst="rect">
            <a:avLst/>
          </a:prstGeom>
          <a:noFill/>
        </p:spPr>
        <p:txBody>
          <a:bodyPr wrap="square">
            <a:spAutoFit/>
          </a:bodyPr>
          <a:lstStyle/>
          <a:p>
            <a:pPr marL="0" indent="0">
              <a:buNone/>
            </a:pPr>
            <a:r>
              <a:rPr lang="en-US" sz="2800" b="1" dirty="0">
                <a:solidFill>
                  <a:srgbClr val="FFFFFF"/>
                </a:solidFill>
                <a:latin typeface="Calibri" pitchFamily="34" charset="0"/>
                <a:ea typeface="Calibri" pitchFamily="34" charset="-122"/>
                <a:cs typeface="Calibri" pitchFamily="34" charset="-120"/>
              </a:rPr>
              <a:t>Salary</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Prediction</a:t>
            </a:r>
            <a:endParaRPr lang="en-IN" sz="2800" dirty="0"/>
          </a:p>
        </p:txBody>
      </p:sp>
      <p:sp>
        <p:nvSpPr>
          <p:cNvPr id="12" name="TextBox 11">
            <a:extLst>
              <a:ext uri="{FF2B5EF4-FFF2-40B4-BE49-F238E27FC236}">
                <a16:creationId xmlns:a16="http://schemas.microsoft.com/office/drawing/2014/main" id="{C2745637-0C2F-4B7D-97CC-8D4EED7613B6}"/>
              </a:ext>
            </a:extLst>
          </p:cNvPr>
          <p:cNvSpPr txBox="1"/>
          <p:nvPr/>
        </p:nvSpPr>
        <p:spPr>
          <a:xfrm>
            <a:off x="504749" y="2168979"/>
            <a:ext cx="4659782" cy="369332"/>
          </a:xfrm>
          <a:prstGeom prst="rect">
            <a:avLst/>
          </a:prstGeom>
          <a:noFill/>
        </p:spPr>
        <p:txBody>
          <a:bodyPr wrap="square">
            <a:spAutoFit/>
          </a:bodyPr>
          <a:lstStyle/>
          <a:p>
            <a:pPr marL="0" indent="0">
              <a:buNone/>
            </a:pPr>
            <a:r>
              <a:rPr lang="en-US" sz="1800" dirty="0">
                <a:solidFill>
                  <a:srgbClr val="C4B5FD"/>
                </a:solidFill>
                <a:latin typeface="Calibri" pitchFamily="34" charset="0"/>
                <a:ea typeface="Calibri" pitchFamily="34" charset="-122"/>
                <a:cs typeface="Calibri" pitchFamily="34" charset="-120"/>
              </a:rPr>
              <a:t>using Linear Regression</a:t>
            </a:r>
            <a:endParaRPr lang="en-US" sz="1800" dirty="0"/>
          </a:p>
        </p:txBody>
      </p:sp>
      <p:sp>
        <p:nvSpPr>
          <p:cNvPr id="13" name="Shape 2">
            <a:extLst>
              <a:ext uri="{FF2B5EF4-FFF2-40B4-BE49-F238E27FC236}">
                <a16:creationId xmlns:a16="http://schemas.microsoft.com/office/drawing/2014/main" id="{1591E757-FC8D-4641-97BF-BA989245CFB6}"/>
              </a:ext>
            </a:extLst>
          </p:cNvPr>
          <p:cNvSpPr/>
          <p:nvPr/>
        </p:nvSpPr>
        <p:spPr>
          <a:xfrm>
            <a:off x="3200400" y="3630862"/>
            <a:ext cx="1645920" cy="1645920"/>
          </a:xfrm>
          <a:prstGeom prst="ellipse">
            <a:avLst/>
          </a:prstGeom>
          <a:solidFill>
            <a:srgbClr val="F59E0B">
              <a:alpha val="35000"/>
            </a:srgbClr>
          </a:solidFill>
          <a:ln w="12700">
            <a:solidFill>
              <a:srgbClr val="F59E0B">
                <a:alpha val="35000"/>
              </a:srgbClr>
            </a:solidFill>
            <a:prstDash val="solid"/>
          </a:ln>
        </p:spPr>
      </p:sp>
      <p:sp>
        <p:nvSpPr>
          <p:cNvPr id="16" name="Shape 8">
            <a:extLst>
              <a:ext uri="{FF2B5EF4-FFF2-40B4-BE49-F238E27FC236}">
                <a16:creationId xmlns:a16="http://schemas.microsoft.com/office/drawing/2014/main" id="{41F4AD2C-4832-4E49-BE63-8CA8FA82406F}"/>
              </a:ext>
            </a:extLst>
          </p:cNvPr>
          <p:cNvSpPr/>
          <p:nvPr/>
        </p:nvSpPr>
        <p:spPr>
          <a:xfrm>
            <a:off x="5074920" y="1783080"/>
            <a:ext cx="1783080" cy="438912"/>
          </a:xfrm>
          <a:prstGeom prst="rect">
            <a:avLst/>
          </a:prstGeom>
          <a:solidFill>
            <a:srgbClr val="EDE9FE"/>
          </a:solidFill>
          <a:ln w="12700">
            <a:solidFill>
              <a:srgbClr val="E5E7EB"/>
            </a:solidFill>
            <a:prstDash val="solid"/>
          </a:ln>
        </p:spPr>
      </p:sp>
      <p:sp>
        <p:nvSpPr>
          <p:cNvPr id="18" name="TextBox 17">
            <a:extLst>
              <a:ext uri="{FF2B5EF4-FFF2-40B4-BE49-F238E27FC236}">
                <a16:creationId xmlns:a16="http://schemas.microsoft.com/office/drawing/2014/main" id="{2299C297-DC21-42D4-A6BE-1BFAAF5581A6}"/>
              </a:ext>
            </a:extLst>
          </p:cNvPr>
          <p:cNvSpPr txBox="1"/>
          <p:nvPr/>
        </p:nvSpPr>
        <p:spPr>
          <a:xfrm>
            <a:off x="3449117" y="1799647"/>
            <a:ext cx="4879238" cy="369332"/>
          </a:xfrm>
          <a:prstGeom prst="rect">
            <a:avLst/>
          </a:prstGeom>
          <a:noFill/>
        </p:spPr>
        <p:txBody>
          <a:bodyPr wrap="square">
            <a:spAutoFit/>
          </a:bodyPr>
          <a:lstStyle/>
          <a:p>
            <a:pPr marL="0" indent="0" algn="ctr">
              <a:buNone/>
            </a:pPr>
            <a:r>
              <a:rPr lang="en-US" sz="1800" dirty="0">
                <a:solidFill>
                  <a:srgbClr val="1E1B4B"/>
                </a:solidFill>
                <a:latin typeface="Calibri" pitchFamily="34" charset="0"/>
                <a:ea typeface="Calibri" pitchFamily="34" charset="-122"/>
                <a:cs typeface="Calibri" pitchFamily="34" charset="-120"/>
              </a:rPr>
              <a:t>🐼 Pandas</a:t>
            </a:r>
            <a:endParaRPr lang="en-US" sz="1800" dirty="0"/>
          </a:p>
        </p:txBody>
      </p:sp>
      <p:sp>
        <p:nvSpPr>
          <p:cNvPr id="19" name="Shape 10">
            <a:extLst>
              <a:ext uri="{FF2B5EF4-FFF2-40B4-BE49-F238E27FC236}">
                <a16:creationId xmlns:a16="http://schemas.microsoft.com/office/drawing/2014/main" id="{089F5250-02E2-4A31-9F3F-D83EC4281032}"/>
              </a:ext>
            </a:extLst>
          </p:cNvPr>
          <p:cNvSpPr/>
          <p:nvPr/>
        </p:nvSpPr>
        <p:spPr>
          <a:xfrm>
            <a:off x="7018020" y="1783080"/>
            <a:ext cx="1783080" cy="438912"/>
          </a:xfrm>
          <a:prstGeom prst="rect">
            <a:avLst/>
          </a:prstGeom>
          <a:solidFill>
            <a:srgbClr val="FCE7F3"/>
          </a:solidFill>
          <a:ln w="12700">
            <a:solidFill>
              <a:srgbClr val="E5E7EB"/>
            </a:solidFill>
            <a:prstDash val="solid"/>
          </a:ln>
        </p:spPr>
        <p:txBody>
          <a:bodyPr/>
          <a:lstStyle/>
          <a:p>
            <a:pPr marL="0" indent="0" algn="ctr">
              <a:buNone/>
            </a:pPr>
            <a:r>
              <a:rPr lang="en-US" sz="1800" dirty="0">
                <a:solidFill>
                  <a:srgbClr val="1E1B4B"/>
                </a:solidFill>
                <a:latin typeface="Calibri" pitchFamily="34" charset="0"/>
                <a:ea typeface="Calibri" pitchFamily="34" charset="-122"/>
                <a:cs typeface="Calibri" pitchFamily="34" charset="-120"/>
              </a:rPr>
              <a:t>🔢 NumPy</a:t>
            </a:r>
            <a:endParaRPr lang="en-US" sz="1800" dirty="0"/>
          </a:p>
        </p:txBody>
      </p:sp>
      <p:sp>
        <p:nvSpPr>
          <p:cNvPr id="20" name="TextBox 19">
            <a:extLst>
              <a:ext uri="{FF2B5EF4-FFF2-40B4-BE49-F238E27FC236}">
                <a16:creationId xmlns:a16="http://schemas.microsoft.com/office/drawing/2014/main" id="{840273D8-ADC4-4912-AC59-0B8A8165379C}"/>
              </a:ext>
            </a:extLst>
          </p:cNvPr>
          <p:cNvSpPr txBox="1"/>
          <p:nvPr/>
        </p:nvSpPr>
        <p:spPr>
          <a:xfrm>
            <a:off x="5074921" y="855963"/>
            <a:ext cx="3622852" cy="382175"/>
          </a:xfrm>
          <a:prstGeom prst="rect">
            <a:avLst/>
          </a:prstGeom>
          <a:noFill/>
        </p:spPr>
        <p:txBody>
          <a:bodyPr wrap="square" rtlCol="0">
            <a:spAutoFit/>
          </a:bodyPr>
          <a:lstStyle/>
          <a:p>
            <a:r>
              <a:rPr lang="en-GB" dirty="0"/>
              <a:t>Tools I use for this project: </a:t>
            </a:r>
            <a:endParaRPr lang="en-IN" dirty="0"/>
          </a:p>
        </p:txBody>
      </p:sp>
      <p:sp>
        <p:nvSpPr>
          <p:cNvPr id="21" name="Shape 12">
            <a:extLst>
              <a:ext uri="{FF2B5EF4-FFF2-40B4-BE49-F238E27FC236}">
                <a16:creationId xmlns:a16="http://schemas.microsoft.com/office/drawing/2014/main" id="{F1C712F3-B721-422C-8724-C01DC3AC9764}"/>
              </a:ext>
            </a:extLst>
          </p:cNvPr>
          <p:cNvSpPr/>
          <p:nvPr/>
        </p:nvSpPr>
        <p:spPr>
          <a:xfrm>
            <a:off x="5074920" y="2373133"/>
            <a:ext cx="1783080" cy="438912"/>
          </a:xfrm>
          <a:prstGeom prst="rect">
            <a:avLst/>
          </a:prstGeom>
          <a:solidFill>
            <a:srgbClr val="FEF3C7"/>
          </a:solidFill>
          <a:ln w="12700">
            <a:solidFill>
              <a:srgbClr val="E5E7EB"/>
            </a:solidFill>
            <a:prstDash val="solid"/>
          </a:ln>
        </p:spPr>
      </p:sp>
      <p:sp>
        <p:nvSpPr>
          <p:cNvPr id="23" name="TextBox 22">
            <a:extLst>
              <a:ext uri="{FF2B5EF4-FFF2-40B4-BE49-F238E27FC236}">
                <a16:creationId xmlns:a16="http://schemas.microsoft.com/office/drawing/2014/main" id="{78844F49-AB7A-48E4-A508-A6DB1F510F73}"/>
              </a:ext>
            </a:extLst>
          </p:cNvPr>
          <p:cNvSpPr txBox="1"/>
          <p:nvPr/>
        </p:nvSpPr>
        <p:spPr>
          <a:xfrm>
            <a:off x="3858768" y="2370147"/>
            <a:ext cx="4056278" cy="369332"/>
          </a:xfrm>
          <a:prstGeom prst="rect">
            <a:avLst/>
          </a:prstGeom>
          <a:noFill/>
        </p:spPr>
        <p:txBody>
          <a:bodyPr wrap="square">
            <a:spAutoFit/>
          </a:bodyPr>
          <a:lstStyle/>
          <a:p>
            <a:pPr marL="0" indent="0" algn="ctr">
              <a:buNone/>
            </a:pPr>
            <a:r>
              <a:rPr lang="en-US" sz="1800" dirty="0">
                <a:solidFill>
                  <a:srgbClr val="1E1B4B"/>
                </a:solidFill>
                <a:latin typeface="Calibri" pitchFamily="34" charset="0"/>
                <a:ea typeface="Calibri" pitchFamily="34" charset="-122"/>
                <a:cs typeface="Calibri" pitchFamily="34" charset="-120"/>
              </a:rPr>
              <a:t>📊 Matplotlib</a:t>
            </a:r>
            <a:endParaRPr lang="en-US" sz="1800" dirty="0"/>
          </a:p>
        </p:txBody>
      </p:sp>
      <p:sp>
        <p:nvSpPr>
          <p:cNvPr id="24" name="Shape 14">
            <a:extLst>
              <a:ext uri="{FF2B5EF4-FFF2-40B4-BE49-F238E27FC236}">
                <a16:creationId xmlns:a16="http://schemas.microsoft.com/office/drawing/2014/main" id="{7CAD5C9A-5A0F-47DC-BA93-9C37336DD3C3}"/>
              </a:ext>
            </a:extLst>
          </p:cNvPr>
          <p:cNvSpPr/>
          <p:nvPr/>
        </p:nvSpPr>
        <p:spPr>
          <a:xfrm>
            <a:off x="6995160" y="2350008"/>
            <a:ext cx="1783080" cy="438912"/>
          </a:xfrm>
          <a:prstGeom prst="rect">
            <a:avLst/>
          </a:prstGeom>
          <a:solidFill>
            <a:srgbClr val="D1FAE5"/>
          </a:solidFill>
          <a:ln w="12700">
            <a:solidFill>
              <a:srgbClr val="E5E7EB"/>
            </a:solidFill>
            <a:prstDash val="solid"/>
          </a:ln>
        </p:spPr>
      </p:sp>
      <p:sp>
        <p:nvSpPr>
          <p:cNvPr id="26" name="TextBox 25">
            <a:extLst>
              <a:ext uri="{FF2B5EF4-FFF2-40B4-BE49-F238E27FC236}">
                <a16:creationId xmlns:a16="http://schemas.microsoft.com/office/drawing/2014/main" id="{6F0EEE6D-6C8D-4757-95F8-21C146723666}"/>
              </a:ext>
            </a:extLst>
          </p:cNvPr>
          <p:cNvSpPr txBox="1"/>
          <p:nvPr/>
        </p:nvSpPr>
        <p:spPr>
          <a:xfrm>
            <a:off x="5556809" y="2350050"/>
            <a:ext cx="4659782" cy="369332"/>
          </a:xfrm>
          <a:prstGeom prst="rect">
            <a:avLst/>
          </a:prstGeom>
          <a:noFill/>
        </p:spPr>
        <p:txBody>
          <a:bodyPr wrap="square">
            <a:spAutoFit/>
          </a:bodyPr>
          <a:lstStyle/>
          <a:p>
            <a:pPr marL="0" indent="0" algn="ctr">
              <a:buNone/>
            </a:pPr>
            <a:r>
              <a:rPr lang="en-US" sz="1800" dirty="0">
                <a:solidFill>
                  <a:srgbClr val="1E1B4B"/>
                </a:solidFill>
                <a:latin typeface="Calibri" pitchFamily="34" charset="0"/>
                <a:ea typeface="Calibri" pitchFamily="34" charset="-122"/>
                <a:cs typeface="Calibri" pitchFamily="34" charset="-120"/>
              </a:rPr>
              <a:t>🤖 </a:t>
            </a:r>
            <a:r>
              <a:rPr lang="en-US" sz="1800" dirty="0" err="1">
                <a:solidFill>
                  <a:srgbClr val="1E1B4B"/>
                </a:solidFill>
                <a:latin typeface="Calibri" pitchFamily="34" charset="0"/>
                <a:ea typeface="Calibri" pitchFamily="34" charset="-122"/>
                <a:cs typeface="Calibri" pitchFamily="34" charset="-120"/>
              </a:rPr>
              <a:t>Sklearn</a:t>
            </a:r>
            <a:endParaRPr lang="en-US" sz="1800" dirty="0"/>
          </a:p>
        </p:txBody>
      </p:sp>
      <p:sp>
        <p:nvSpPr>
          <p:cNvPr id="28" name="TextBox 27">
            <a:extLst>
              <a:ext uri="{FF2B5EF4-FFF2-40B4-BE49-F238E27FC236}">
                <a16:creationId xmlns:a16="http://schemas.microsoft.com/office/drawing/2014/main" id="{51BFB371-F8A5-4E7E-A321-F24FA057E004}"/>
              </a:ext>
            </a:extLst>
          </p:cNvPr>
          <p:cNvSpPr txBox="1"/>
          <p:nvPr/>
        </p:nvSpPr>
        <p:spPr>
          <a:xfrm>
            <a:off x="5074920" y="3551005"/>
            <a:ext cx="5197448" cy="369332"/>
          </a:xfrm>
          <a:prstGeom prst="rect">
            <a:avLst/>
          </a:prstGeom>
          <a:noFill/>
        </p:spPr>
        <p:txBody>
          <a:bodyPr wrap="square">
            <a:spAutoFit/>
          </a:bodyPr>
          <a:lstStyle/>
          <a:p>
            <a:pPr marL="0" indent="0">
              <a:buNone/>
            </a:pPr>
            <a:r>
              <a:rPr lang="en-US" sz="1800" b="1" dirty="0">
                <a:solidFill>
                  <a:srgbClr val="C4B5FD"/>
                </a:solidFill>
                <a:latin typeface="Calibri" pitchFamily="34" charset="0"/>
                <a:ea typeface="Calibri" pitchFamily="34" charset="-122"/>
                <a:cs typeface="Calibri" pitchFamily="34" charset="-120"/>
              </a:rPr>
              <a:t>Made by </a:t>
            </a:r>
            <a:r>
              <a:rPr lang="en-US" b="1" dirty="0">
                <a:solidFill>
                  <a:srgbClr val="C4B5FD"/>
                </a:solidFill>
                <a:latin typeface="Calibri" pitchFamily="34" charset="0"/>
                <a:ea typeface="Calibri" pitchFamily="34" charset="-122"/>
                <a:cs typeface="Calibri" pitchFamily="34" charset="-120"/>
              </a:rPr>
              <a:t>Chanchal kushwah</a:t>
            </a:r>
            <a:endParaRPr lang="en-US" sz="1800" dirty="0">
              <a:solidFill>
                <a:srgbClr val="C4B5F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41D61">
            <a:alpha val="73000"/>
          </a:srgbClr>
        </a:solidFill>
        <a:effectLst/>
      </p:bgPr>
    </p:bg>
    <p:spTree>
      <p:nvGrpSpPr>
        <p:cNvPr id="1" name=""/>
        <p:cNvGrpSpPr/>
        <p:nvPr/>
      </p:nvGrpSpPr>
      <p:grpSpPr>
        <a:xfrm>
          <a:off x="0" y="0"/>
          <a:ext cx="0" cy="0"/>
          <a:chOff x="0" y="0"/>
          <a:chExt cx="0" cy="0"/>
        </a:xfrm>
      </p:grpSpPr>
      <p:sp>
        <p:nvSpPr>
          <p:cNvPr id="3" name="Text 1"/>
          <p:cNvSpPr/>
          <p:nvPr/>
        </p:nvSpPr>
        <p:spPr>
          <a:xfrm>
            <a:off x="533333" y="928810"/>
            <a:ext cx="8046720" cy="86868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Basically, we want to find out —</a:t>
            </a:r>
            <a:endParaRPr lang="en-US" sz="1800" dirty="0">
              <a:solidFill>
                <a:schemeClr val="bg1"/>
              </a:solidFill>
            </a:endParaRPr>
          </a:p>
          <a:p>
            <a:pPr marL="0" indent="0">
              <a:buNone/>
            </a:pPr>
            <a:r>
              <a:rPr lang="en-US" sz="1800" dirty="0">
                <a:solidFill>
                  <a:schemeClr val="bg1"/>
                </a:solidFill>
                <a:latin typeface="Calibri" pitchFamily="34" charset="0"/>
                <a:ea typeface="Calibri" pitchFamily="34" charset="-122"/>
                <a:cs typeface="Calibri" pitchFamily="34" charset="-120"/>
              </a:rPr>
              <a:t>if a company has a higher employee rating, do they also pay higher salaries?</a:t>
            </a:r>
            <a:endParaRPr lang="en-US" sz="1800" dirty="0">
              <a:solidFill>
                <a:schemeClr val="bg1"/>
              </a:solidFill>
            </a:endParaRPr>
          </a:p>
        </p:txBody>
      </p:sp>
      <p:sp>
        <p:nvSpPr>
          <p:cNvPr id="4" name="Text 2"/>
          <p:cNvSpPr/>
          <p:nvPr/>
        </p:nvSpPr>
        <p:spPr>
          <a:xfrm>
            <a:off x="548640" y="1911096"/>
            <a:ext cx="8046720" cy="777240"/>
          </a:xfrm>
          <a:prstGeom prst="rect">
            <a:avLst/>
          </a:prstGeom>
          <a:noFill/>
          <a:ln/>
        </p:spPr>
        <p:txBody>
          <a:bodyPr wrap="square" lIns="0" tIns="0" rIns="0" bIns="0" rtlCol="0" anchor="ctr"/>
          <a:lstStyle/>
          <a:p>
            <a:pPr marL="0" indent="0">
              <a:buNone/>
            </a:pPr>
            <a:r>
              <a:rPr lang="en-US" sz="1500" dirty="0">
                <a:solidFill>
                  <a:srgbClr val="FFFF00"/>
                </a:solidFill>
                <a:latin typeface="Calibri" pitchFamily="34" charset="0"/>
                <a:ea typeface="Calibri" pitchFamily="34" charset="-122"/>
                <a:cs typeface="Calibri" pitchFamily="34" charset="-120"/>
              </a:rPr>
              <a:t>To do this, we use a machine learning algorithm called Linear Regression. It draws the best straight line through our data so we can use it to predict salary from any given rating.</a:t>
            </a:r>
            <a:endParaRPr lang="en-US" sz="1500" dirty="0">
              <a:solidFill>
                <a:srgbClr val="FFFF00"/>
              </a:solidFill>
            </a:endParaRPr>
          </a:p>
        </p:txBody>
      </p:sp>
      <p:sp>
        <p:nvSpPr>
          <p:cNvPr id="5" name="Text 3"/>
          <p:cNvSpPr/>
          <p:nvPr/>
        </p:nvSpPr>
        <p:spPr>
          <a:xfrm>
            <a:off x="548640" y="2815438"/>
            <a:ext cx="8046720" cy="365760"/>
          </a:xfrm>
          <a:prstGeom prst="rect">
            <a:avLst/>
          </a:prstGeom>
          <a:noFill/>
          <a:ln/>
        </p:spPr>
        <p:txBody>
          <a:bodyPr wrap="square" lIns="0" tIns="0" rIns="0" bIns="0" rtlCol="0" anchor="ctr"/>
          <a:lstStyle/>
          <a:p>
            <a:pPr marL="0" indent="0">
              <a:buNone/>
            </a:pPr>
            <a:r>
              <a:rPr lang="en-US" sz="1500" dirty="0">
                <a:solidFill>
                  <a:srgbClr val="B9B9B9"/>
                </a:solidFill>
                <a:latin typeface="Calibri" pitchFamily="34" charset="0"/>
                <a:ea typeface="Calibri" pitchFamily="34" charset="-122"/>
                <a:cs typeface="Calibri" pitchFamily="34" charset="-120"/>
              </a:rPr>
              <a:t>Our dataset is called eda_data.csv and it has two columns we care about:</a:t>
            </a:r>
            <a:endParaRPr lang="en-US" sz="1500" dirty="0">
              <a:solidFill>
                <a:srgbClr val="B9B9B9"/>
              </a:solidFill>
            </a:endParaRPr>
          </a:p>
        </p:txBody>
      </p:sp>
      <p:sp>
        <p:nvSpPr>
          <p:cNvPr id="6" name="Text 4"/>
          <p:cNvSpPr/>
          <p:nvPr/>
        </p:nvSpPr>
        <p:spPr>
          <a:xfrm>
            <a:off x="914400" y="3337560"/>
            <a:ext cx="7680960" cy="658368"/>
          </a:xfrm>
          <a:prstGeom prst="rect">
            <a:avLst/>
          </a:prstGeom>
          <a:noFill/>
          <a:ln/>
        </p:spPr>
        <p:txBody>
          <a:bodyPr wrap="square" lIns="0" tIns="0" rIns="0" bIns="0" rtlCol="0" anchor="ctr"/>
          <a:lstStyle/>
          <a:p>
            <a:pPr marL="0" indent="0">
              <a:buNone/>
            </a:pPr>
            <a:r>
              <a:rPr lang="en-US" sz="1500" b="1" dirty="0">
                <a:solidFill>
                  <a:schemeClr val="accent1">
                    <a:lumMod val="60000"/>
                    <a:lumOff val="40000"/>
                  </a:schemeClr>
                </a:solidFill>
                <a:latin typeface="Calibri" pitchFamily="34" charset="0"/>
                <a:ea typeface="Calibri" pitchFamily="34" charset="-122"/>
                <a:cs typeface="Calibri" pitchFamily="34" charset="-120"/>
              </a:rPr>
              <a:t>Rating  (1.0 to 5.0 stars)   →   this is our input</a:t>
            </a:r>
            <a:endParaRPr lang="en-US" sz="1500" dirty="0">
              <a:solidFill>
                <a:schemeClr val="accent1">
                  <a:lumMod val="60000"/>
                  <a:lumOff val="40000"/>
                </a:schemeClr>
              </a:solidFill>
            </a:endParaRPr>
          </a:p>
          <a:p>
            <a:pPr marL="0" indent="0">
              <a:buNone/>
            </a:pPr>
            <a:r>
              <a:rPr lang="en-US" sz="1500" b="1" dirty="0">
                <a:solidFill>
                  <a:schemeClr val="accent1">
                    <a:lumMod val="60000"/>
                    <a:lumOff val="40000"/>
                  </a:schemeClr>
                </a:solidFill>
                <a:latin typeface="Calibri" pitchFamily="34" charset="0"/>
                <a:ea typeface="Calibri" pitchFamily="34" charset="-122"/>
                <a:cs typeface="Calibri" pitchFamily="34" charset="-120"/>
              </a:rPr>
              <a:t>avg_salary  (in dollars)         →   this is what we want to predict</a:t>
            </a:r>
            <a:endParaRPr lang="en-US" sz="1500" dirty="0">
              <a:solidFill>
                <a:schemeClr val="accent1">
                  <a:lumMod val="60000"/>
                  <a:lumOff val="40000"/>
                </a:schemeClr>
              </a:solidFill>
            </a:endParaRPr>
          </a:p>
        </p:txBody>
      </p:sp>
      <p:sp>
        <p:nvSpPr>
          <p:cNvPr id="7" name="TextBox 6">
            <a:extLst>
              <a:ext uri="{FF2B5EF4-FFF2-40B4-BE49-F238E27FC236}">
                <a16:creationId xmlns:a16="http://schemas.microsoft.com/office/drawing/2014/main" id="{46A3F8B3-1AE5-4D00-99A9-841FE36C6128}"/>
              </a:ext>
            </a:extLst>
          </p:cNvPr>
          <p:cNvSpPr txBox="1"/>
          <p:nvPr/>
        </p:nvSpPr>
        <p:spPr>
          <a:xfrm>
            <a:off x="482803" y="376329"/>
            <a:ext cx="1710405" cy="523220"/>
          </a:xfrm>
          <a:prstGeom prst="rect">
            <a:avLst/>
          </a:prstGeom>
          <a:noFill/>
        </p:spPr>
        <p:txBody>
          <a:bodyPr wrap="none" rtlCol="0">
            <a:spAutoFit/>
          </a:bodyPr>
          <a:lstStyle/>
          <a:p>
            <a:r>
              <a:rPr lang="en-GB" sz="2800" b="1" dirty="0">
                <a:solidFill>
                  <a:srgbClr val="C4B5FD"/>
                </a:solidFill>
              </a:rPr>
              <a:t>Overview:</a:t>
            </a:r>
            <a:endParaRPr lang="en-IN" sz="2000" dirty="0">
              <a:solidFill>
                <a:srgbClr val="C4B5FD"/>
              </a:solidFill>
            </a:endParaRPr>
          </a:p>
        </p:txBody>
      </p:sp>
      <p:sp>
        <p:nvSpPr>
          <p:cNvPr id="8" name="Shape 1">
            <a:extLst>
              <a:ext uri="{FF2B5EF4-FFF2-40B4-BE49-F238E27FC236}">
                <a16:creationId xmlns:a16="http://schemas.microsoft.com/office/drawing/2014/main" id="{4EBD271C-7606-488B-9D88-1D450F27FF5F}"/>
              </a:ext>
            </a:extLst>
          </p:cNvPr>
          <p:cNvSpPr/>
          <p:nvPr/>
        </p:nvSpPr>
        <p:spPr>
          <a:xfrm>
            <a:off x="-91440" y="3863340"/>
            <a:ext cx="1280160" cy="1280160"/>
          </a:xfrm>
          <a:prstGeom prst="ellipse">
            <a:avLst/>
          </a:prstGeom>
          <a:solidFill>
            <a:srgbClr val="EC4899">
              <a:alpha val="40000"/>
            </a:srgbClr>
          </a:solidFill>
          <a:ln w="12700">
            <a:solidFill>
              <a:srgbClr val="EC4899">
                <a:alpha val="40000"/>
              </a:srgbClr>
            </a:solidFill>
            <a:prstDash val="solid"/>
          </a:ln>
        </p:spPr>
      </p:sp>
      <p:sp>
        <p:nvSpPr>
          <p:cNvPr id="9" name="Shape 0">
            <a:extLst>
              <a:ext uri="{FF2B5EF4-FFF2-40B4-BE49-F238E27FC236}">
                <a16:creationId xmlns:a16="http://schemas.microsoft.com/office/drawing/2014/main" id="{7E1E437F-81DC-407B-8A60-8519811CF006}"/>
              </a:ext>
            </a:extLst>
          </p:cNvPr>
          <p:cNvSpPr/>
          <p:nvPr/>
        </p:nvSpPr>
        <p:spPr>
          <a:xfrm>
            <a:off x="7664824" y="0"/>
            <a:ext cx="1645920" cy="1645920"/>
          </a:xfrm>
          <a:prstGeom prst="ellipse">
            <a:avLst/>
          </a:prstGeom>
          <a:solidFill>
            <a:srgbClr val="7C3AED">
              <a:alpha val="45000"/>
            </a:srgbClr>
          </a:solidFill>
          <a:ln w="12700">
            <a:solidFill>
              <a:srgbClr val="7C3AED">
                <a:alpha val="45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00">
            <a:alpha val="13000"/>
          </a:srgbClr>
        </a:solidFill>
        <a:effectLst/>
      </p:bgPr>
    </p:bg>
    <p:spTree>
      <p:nvGrpSpPr>
        <p:cNvPr id="1" name=""/>
        <p:cNvGrpSpPr/>
        <p:nvPr/>
      </p:nvGrpSpPr>
      <p:grpSpPr>
        <a:xfrm>
          <a:off x="0" y="0"/>
          <a:ext cx="0" cy="0"/>
          <a:chOff x="0" y="0"/>
          <a:chExt cx="0" cy="0"/>
        </a:xfrm>
      </p:grpSpPr>
      <p:sp>
        <p:nvSpPr>
          <p:cNvPr id="2" name="Text 0"/>
          <p:cNvSpPr/>
          <p:nvPr/>
        </p:nvSpPr>
        <p:spPr>
          <a:xfrm>
            <a:off x="640080" y="3611880"/>
            <a:ext cx="8229600" cy="475488"/>
          </a:xfrm>
          <a:prstGeom prst="rect">
            <a:avLst/>
          </a:prstGeom>
          <a:noFill/>
          <a:ln/>
        </p:spPr>
        <p:txBody>
          <a:bodyPr wrap="square" lIns="0" tIns="0" rIns="0" bIns="0" rtlCol="0" anchor="ctr"/>
          <a:lstStyle/>
          <a:p>
            <a:pPr marL="0" indent="0">
              <a:buNone/>
            </a:pPr>
            <a:endParaRPr lang="en-US" sz="2400" dirty="0"/>
          </a:p>
        </p:txBody>
      </p:sp>
      <p:sp>
        <p:nvSpPr>
          <p:cNvPr id="3" name="Shape 1"/>
          <p:cNvSpPr/>
          <p:nvPr/>
        </p:nvSpPr>
        <p:spPr>
          <a:xfrm>
            <a:off x="457200" y="869064"/>
            <a:ext cx="4389120" cy="2103120"/>
          </a:xfrm>
          <a:prstGeom prst="rect">
            <a:avLst/>
          </a:prstGeom>
          <a:solidFill>
            <a:srgbClr val="1F2937"/>
          </a:solidFill>
          <a:ln w="12700">
            <a:solidFill>
              <a:srgbClr val="374151"/>
            </a:solidFill>
            <a:prstDash val="solid"/>
          </a:ln>
        </p:spPr>
      </p:sp>
      <p:sp>
        <p:nvSpPr>
          <p:cNvPr id="4" name="Text 2"/>
          <p:cNvSpPr/>
          <p:nvPr/>
        </p:nvSpPr>
        <p:spPr>
          <a:xfrm>
            <a:off x="594360" y="869064"/>
            <a:ext cx="4114800" cy="1920240"/>
          </a:xfrm>
          <a:prstGeom prst="rect">
            <a:avLst/>
          </a:prstGeom>
          <a:noFill/>
          <a:ln/>
        </p:spPr>
        <p:txBody>
          <a:bodyPr wrap="square" lIns="0" tIns="0" rIns="0" bIns="0" rtlCol="0" anchor="t"/>
          <a:lstStyle/>
          <a:p>
            <a:pPr marL="0" indent="0">
              <a:buNone/>
            </a:pPr>
            <a:endParaRPr lang="en-US" sz="1050" dirty="0"/>
          </a:p>
        </p:txBody>
      </p:sp>
      <p:sp>
        <p:nvSpPr>
          <p:cNvPr id="5" name="Text 3"/>
          <p:cNvSpPr/>
          <p:nvPr/>
        </p:nvSpPr>
        <p:spPr>
          <a:xfrm>
            <a:off x="5074920" y="777240"/>
            <a:ext cx="3840480" cy="347472"/>
          </a:xfrm>
          <a:prstGeom prst="rect">
            <a:avLst/>
          </a:prstGeom>
          <a:noFill/>
          <a:ln/>
        </p:spPr>
        <p:txBody>
          <a:bodyPr wrap="square" lIns="0" tIns="0" rIns="0" bIns="0" rtlCol="0" anchor="ctr"/>
          <a:lstStyle/>
          <a:p>
            <a:pPr marL="0" indent="0">
              <a:buNone/>
            </a:pPr>
            <a:r>
              <a:rPr lang="en-US" sz="1500" b="1" dirty="0">
                <a:solidFill>
                  <a:srgbClr val="92400E"/>
                </a:solidFill>
                <a:latin typeface="Calibri" pitchFamily="34" charset="0"/>
                <a:ea typeface="Calibri" pitchFamily="34" charset="-122"/>
                <a:cs typeface="Calibri" pitchFamily="34" charset="-120"/>
              </a:rPr>
              <a:t>What all this means:</a:t>
            </a:r>
            <a:endParaRPr lang="en-US" sz="1500" dirty="0"/>
          </a:p>
        </p:txBody>
      </p:sp>
      <p:sp>
        <p:nvSpPr>
          <p:cNvPr id="6" name="Text 4"/>
          <p:cNvSpPr/>
          <p:nvPr/>
        </p:nvSpPr>
        <p:spPr>
          <a:xfrm>
            <a:off x="5074920" y="1188720"/>
            <a:ext cx="3840480" cy="2651760"/>
          </a:xfrm>
          <a:prstGeom prst="rect">
            <a:avLst/>
          </a:prstGeom>
          <a:noFill/>
          <a:ln/>
        </p:spPr>
        <p:txBody>
          <a:bodyPr wrap="square" lIns="0" tIns="0" rIns="0" bIns="0" rtlCol="0" anchor="t"/>
          <a:lstStyle/>
          <a:p>
            <a:pPr marL="0" indent="0">
              <a:buNone/>
            </a:pPr>
            <a:r>
              <a:rPr lang="en-US" sz="1250" dirty="0">
                <a:solidFill>
                  <a:srgbClr val="374151"/>
                </a:solidFill>
                <a:latin typeface="Calibri" pitchFamily="34" charset="0"/>
                <a:ea typeface="Calibri" pitchFamily="34" charset="-122"/>
                <a:cs typeface="Calibri" pitchFamily="34" charset="-120"/>
              </a:rPr>
              <a:t>pandas helps us load and work with the data like a spreadsheet.</a:t>
            </a:r>
            <a:endParaRPr lang="en-US" sz="1250" dirty="0"/>
          </a:p>
          <a:p>
            <a:pPr marL="0" indent="0">
              <a:buNone/>
            </a:pP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numpy is for math and arrays — sklearn needs it.</a:t>
            </a:r>
            <a:endParaRPr lang="en-US" sz="1250" dirty="0"/>
          </a:p>
          <a:p>
            <a:pPr marL="0" indent="0">
              <a:buNone/>
            </a:pP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matplotlib is what draws the graph at the end.</a:t>
            </a:r>
            <a:endParaRPr lang="en-US" sz="1250" dirty="0"/>
          </a:p>
          <a:p>
            <a:pPr marL="0" indent="0">
              <a:buNone/>
            </a:pP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train_test_split, LinearRegression and mean_squared_error are the actual machine learning tools we'll use.</a:t>
            </a:r>
            <a:endParaRPr lang="en-US" sz="1250" dirty="0"/>
          </a:p>
        </p:txBody>
      </p:sp>
      <p:sp>
        <p:nvSpPr>
          <p:cNvPr id="7" name="Text 5"/>
          <p:cNvSpPr/>
          <p:nvPr/>
        </p:nvSpPr>
        <p:spPr>
          <a:xfrm>
            <a:off x="457200" y="2999232"/>
            <a:ext cx="8412480" cy="347472"/>
          </a:xfrm>
          <a:prstGeom prst="rect">
            <a:avLst/>
          </a:prstGeom>
          <a:noFill/>
          <a:ln/>
        </p:spPr>
        <p:txBody>
          <a:bodyPr wrap="square" lIns="0" tIns="0" rIns="0" bIns="0" rtlCol="0" anchor="ctr"/>
          <a:lstStyle/>
          <a:p>
            <a:pPr marL="0" indent="0">
              <a:buNone/>
            </a:pPr>
            <a:endParaRPr lang="en-US" sz="1200" dirty="0"/>
          </a:p>
        </p:txBody>
      </p:sp>
      <p:sp>
        <p:nvSpPr>
          <p:cNvPr id="9" name="TextBox 8">
            <a:extLst>
              <a:ext uri="{FF2B5EF4-FFF2-40B4-BE49-F238E27FC236}">
                <a16:creationId xmlns:a16="http://schemas.microsoft.com/office/drawing/2014/main" id="{DC03862F-802E-4638-ABE8-94120472F16B}"/>
              </a:ext>
            </a:extLst>
          </p:cNvPr>
          <p:cNvSpPr txBox="1"/>
          <p:nvPr/>
        </p:nvSpPr>
        <p:spPr>
          <a:xfrm>
            <a:off x="467258" y="1056132"/>
            <a:ext cx="4324198" cy="1615827"/>
          </a:xfrm>
          <a:prstGeom prst="rect">
            <a:avLst/>
          </a:prstGeom>
          <a:noFill/>
        </p:spPr>
        <p:txBody>
          <a:bodyPr wrap="square">
            <a:spAutoFit/>
          </a:bodyPr>
          <a:lstStyle/>
          <a:p>
            <a:r>
              <a:rPr lang="en-IN" sz="1100" b="0" dirty="0">
                <a:solidFill>
                  <a:srgbClr val="384887"/>
                </a:solidFill>
                <a:effectLst/>
                <a:latin typeface="Consolas" panose="020B0609020204030204" pitchFamily="49" charset="0"/>
              </a:rPr>
              <a:t># importing libraries </a:t>
            </a:r>
            <a:endParaRPr lang="en-IN" sz="1100" b="0" dirty="0">
              <a:solidFill>
                <a:srgbClr val="6688CC"/>
              </a:solidFill>
              <a:effectLst/>
              <a:latin typeface="Consolas" panose="020B0609020204030204" pitchFamily="49" charset="0"/>
            </a:endParaRPr>
          </a:p>
          <a:p>
            <a:r>
              <a:rPr lang="en-IN" sz="1100" b="0" dirty="0">
                <a:solidFill>
                  <a:srgbClr val="225588"/>
                </a:solidFill>
                <a:effectLst/>
                <a:latin typeface="Consolas" panose="020B0609020204030204" pitchFamily="49" charset="0"/>
              </a:rPr>
              <a:t>import</a:t>
            </a:r>
            <a:r>
              <a:rPr lang="en-IN" sz="1100" b="0" dirty="0">
                <a:solidFill>
                  <a:srgbClr val="6688CC"/>
                </a:solidFill>
                <a:effectLst/>
                <a:latin typeface="Consolas" panose="020B0609020204030204" pitchFamily="49" charset="0"/>
              </a:rPr>
              <a:t> </a:t>
            </a:r>
            <a:r>
              <a:rPr lang="en-IN" sz="1100" b="0" u="sng" dirty="0">
                <a:solidFill>
                  <a:srgbClr val="FFEEBB"/>
                </a:solidFill>
                <a:effectLst/>
                <a:latin typeface="Consolas" panose="020B0609020204030204" pitchFamily="49" charset="0"/>
              </a:rPr>
              <a:t>pandas</a:t>
            </a:r>
            <a:r>
              <a:rPr lang="en-IN" sz="1100" b="0" dirty="0">
                <a:solidFill>
                  <a:srgbClr val="6688CC"/>
                </a:solidFill>
                <a:effectLst/>
                <a:latin typeface="Consolas" panose="020B0609020204030204" pitchFamily="49" charset="0"/>
              </a:rPr>
              <a:t> </a:t>
            </a:r>
            <a:r>
              <a:rPr lang="en-IN" sz="1100" b="0" dirty="0">
                <a:solidFill>
                  <a:srgbClr val="225588"/>
                </a:solidFill>
                <a:effectLst/>
                <a:latin typeface="Consolas" panose="020B0609020204030204" pitchFamily="49" charset="0"/>
              </a:rPr>
              <a:t>as</a:t>
            </a:r>
            <a:r>
              <a:rPr lang="en-IN" sz="1100" b="0" dirty="0">
                <a:solidFill>
                  <a:srgbClr val="6688CC"/>
                </a:solidFill>
                <a:effectLst/>
                <a:latin typeface="Consolas" panose="020B0609020204030204" pitchFamily="49" charset="0"/>
              </a:rPr>
              <a:t> </a:t>
            </a:r>
            <a:r>
              <a:rPr lang="en-IN" sz="1100" b="0" u="sng" dirty="0">
                <a:solidFill>
                  <a:srgbClr val="FFEEBB"/>
                </a:solidFill>
                <a:effectLst/>
                <a:latin typeface="Consolas" panose="020B0609020204030204" pitchFamily="49" charset="0"/>
              </a:rPr>
              <a:t>pd</a:t>
            </a:r>
            <a:endParaRPr lang="en-IN" sz="1100" b="0" dirty="0">
              <a:solidFill>
                <a:srgbClr val="6688CC"/>
              </a:solidFill>
              <a:effectLst/>
              <a:latin typeface="Consolas" panose="020B0609020204030204" pitchFamily="49" charset="0"/>
            </a:endParaRPr>
          </a:p>
          <a:p>
            <a:r>
              <a:rPr lang="en-IN" sz="1100" b="0" dirty="0">
                <a:solidFill>
                  <a:srgbClr val="225588"/>
                </a:solidFill>
                <a:effectLst/>
                <a:latin typeface="Consolas" panose="020B0609020204030204" pitchFamily="49" charset="0"/>
              </a:rPr>
              <a:t>import</a:t>
            </a:r>
            <a:r>
              <a:rPr lang="en-IN" sz="1100" b="0" dirty="0">
                <a:solidFill>
                  <a:srgbClr val="6688CC"/>
                </a:solidFill>
                <a:effectLst/>
                <a:latin typeface="Consolas" panose="020B0609020204030204" pitchFamily="49" charset="0"/>
              </a:rPr>
              <a:t> </a:t>
            </a:r>
            <a:r>
              <a:rPr lang="en-IN" sz="1100" b="0" u="sng" dirty="0" err="1">
                <a:solidFill>
                  <a:srgbClr val="FFEEBB"/>
                </a:solidFill>
                <a:effectLst/>
                <a:latin typeface="Consolas" panose="020B0609020204030204" pitchFamily="49" charset="0"/>
              </a:rPr>
              <a:t>numpy</a:t>
            </a:r>
            <a:r>
              <a:rPr lang="en-IN" sz="1100" b="0" dirty="0">
                <a:solidFill>
                  <a:srgbClr val="6688CC"/>
                </a:solidFill>
                <a:effectLst/>
                <a:latin typeface="Consolas" panose="020B0609020204030204" pitchFamily="49" charset="0"/>
              </a:rPr>
              <a:t> </a:t>
            </a:r>
            <a:r>
              <a:rPr lang="en-IN" sz="1100" b="0" dirty="0">
                <a:solidFill>
                  <a:srgbClr val="225588"/>
                </a:solidFill>
                <a:effectLst/>
                <a:latin typeface="Consolas" panose="020B0609020204030204" pitchFamily="49" charset="0"/>
              </a:rPr>
              <a:t>as</a:t>
            </a:r>
            <a:r>
              <a:rPr lang="en-IN" sz="1100" b="0" dirty="0">
                <a:solidFill>
                  <a:srgbClr val="6688CC"/>
                </a:solidFill>
                <a:effectLst/>
                <a:latin typeface="Consolas" panose="020B0609020204030204" pitchFamily="49" charset="0"/>
              </a:rPr>
              <a:t> </a:t>
            </a:r>
            <a:r>
              <a:rPr lang="en-IN" sz="1100" b="0" u="sng" dirty="0">
                <a:solidFill>
                  <a:srgbClr val="FFEEBB"/>
                </a:solidFill>
                <a:effectLst/>
                <a:latin typeface="Consolas" panose="020B0609020204030204" pitchFamily="49" charset="0"/>
              </a:rPr>
              <a:t>np</a:t>
            </a:r>
            <a:endParaRPr lang="en-IN" sz="1100" b="0" dirty="0">
              <a:solidFill>
                <a:srgbClr val="6688CC"/>
              </a:solidFill>
              <a:effectLst/>
              <a:latin typeface="Consolas" panose="020B0609020204030204" pitchFamily="49" charset="0"/>
            </a:endParaRPr>
          </a:p>
          <a:p>
            <a:r>
              <a:rPr lang="en-IN" sz="1100" b="0" dirty="0">
                <a:solidFill>
                  <a:srgbClr val="225588"/>
                </a:solidFill>
                <a:effectLst/>
                <a:latin typeface="Consolas" panose="020B0609020204030204" pitchFamily="49" charset="0"/>
              </a:rPr>
              <a:t>import</a:t>
            </a:r>
            <a:r>
              <a:rPr lang="en-IN" sz="1100" b="0" dirty="0">
                <a:solidFill>
                  <a:srgbClr val="6688CC"/>
                </a:solidFill>
                <a:effectLst/>
                <a:latin typeface="Consolas" panose="020B0609020204030204" pitchFamily="49" charset="0"/>
              </a:rPr>
              <a:t> </a:t>
            </a:r>
            <a:r>
              <a:rPr lang="en-IN" sz="1100" b="0" u="sng" dirty="0" err="1">
                <a:solidFill>
                  <a:srgbClr val="FFEEBB"/>
                </a:solidFill>
                <a:effectLst/>
                <a:latin typeface="Consolas" panose="020B0609020204030204" pitchFamily="49" charset="0"/>
              </a:rPr>
              <a:t>matplotlib</a:t>
            </a:r>
            <a:r>
              <a:rPr lang="en-IN" sz="1100" b="0" dirty="0" err="1">
                <a:solidFill>
                  <a:srgbClr val="6688CC"/>
                </a:solidFill>
                <a:effectLst/>
                <a:latin typeface="Consolas" panose="020B0609020204030204" pitchFamily="49" charset="0"/>
              </a:rPr>
              <a:t>.</a:t>
            </a:r>
            <a:r>
              <a:rPr lang="en-IN" sz="1100" b="0" u="sng" dirty="0" err="1">
                <a:solidFill>
                  <a:srgbClr val="FFEEBB"/>
                </a:solidFill>
                <a:effectLst/>
                <a:latin typeface="Consolas" panose="020B0609020204030204" pitchFamily="49" charset="0"/>
              </a:rPr>
              <a:t>pyplot</a:t>
            </a:r>
            <a:r>
              <a:rPr lang="en-IN" sz="1100" b="0" dirty="0">
                <a:solidFill>
                  <a:srgbClr val="6688CC"/>
                </a:solidFill>
                <a:effectLst/>
                <a:latin typeface="Consolas" panose="020B0609020204030204" pitchFamily="49" charset="0"/>
              </a:rPr>
              <a:t> </a:t>
            </a:r>
            <a:r>
              <a:rPr lang="en-IN" sz="1100" b="0" dirty="0">
                <a:solidFill>
                  <a:srgbClr val="225588"/>
                </a:solidFill>
                <a:effectLst/>
                <a:latin typeface="Consolas" panose="020B0609020204030204" pitchFamily="49" charset="0"/>
              </a:rPr>
              <a:t>as</a:t>
            </a:r>
            <a:r>
              <a:rPr lang="en-IN" sz="1100" b="0" dirty="0">
                <a:solidFill>
                  <a:srgbClr val="6688CC"/>
                </a:solidFill>
                <a:effectLst/>
                <a:latin typeface="Consolas" panose="020B0609020204030204" pitchFamily="49" charset="0"/>
              </a:rPr>
              <a:t> </a:t>
            </a:r>
            <a:r>
              <a:rPr lang="en-IN" sz="1100" b="0" u="sng" dirty="0" err="1">
                <a:solidFill>
                  <a:srgbClr val="FFEEBB"/>
                </a:solidFill>
                <a:effectLst/>
                <a:latin typeface="Consolas" panose="020B0609020204030204" pitchFamily="49" charset="0"/>
              </a:rPr>
              <a:t>plt</a:t>
            </a:r>
            <a:endParaRPr lang="en-IN" sz="1100" b="0" dirty="0">
              <a:solidFill>
                <a:srgbClr val="6688CC"/>
              </a:solidFill>
              <a:effectLst/>
              <a:latin typeface="Consolas" panose="020B0609020204030204" pitchFamily="49" charset="0"/>
            </a:endParaRPr>
          </a:p>
          <a:p>
            <a:br>
              <a:rPr lang="en-IN" sz="1100" b="0" dirty="0">
                <a:solidFill>
                  <a:srgbClr val="6688CC"/>
                </a:solidFill>
                <a:effectLst/>
                <a:latin typeface="Consolas" panose="020B0609020204030204" pitchFamily="49" charset="0"/>
              </a:rPr>
            </a:br>
            <a:r>
              <a:rPr lang="en-IN" sz="1100" b="0" dirty="0">
                <a:solidFill>
                  <a:srgbClr val="225588"/>
                </a:solidFill>
                <a:effectLst/>
                <a:latin typeface="Consolas" panose="020B0609020204030204" pitchFamily="49" charset="0"/>
              </a:rPr>
              <a:t>from</a:t>
            </a:r>
            <a:r>
              <a:rPr lang="en-IN" sz="1100" b="0" dirty="0">
                <a:solidFill>
                  <a:srgbClr val="6688CC"/>
                </a:solidFill>
                <a:effectLst/>
                <a:latin typeface="Consolas" panose="020B0609020204030204" pitchFamily="49" charset="0"/>
              </a:rPr>
              <a:t> </a:t>
            </a:r>
            <a:r>
              <a:rPr lang="en-IN" sz="1100" b="0" u="sng" dirty="0" err="1">
                <a:solidFill>
                  <a:srgbClr val="FFEEBB"/>
                </a:solidFill>
                <a:effectLst/>
                <a:latin typeface="Consolas" panose="020B0609020204030204" pitchFamily="49" charset="0"/>
              </a:rPr>
              <a:t>sklearn</a:t>
            </a:r>
            <a:r>
              <a:rPr lang="en-IN" sz="1100" b="0" dirty="0" err="1">
                <a:solidFill>
                  <a:srgbClr val="6688CC"/>
                </a:solidFill>
                <a:effectLst/>
                <a:latin typeface="Consolas" panose="020B0609020204030204" pitchFamily="49" charset="0"/>
              </a:rPr>
              <a:t>.</a:t>
            </a:r>
            <a:r>
              <a:rPr lang="en-IN" sz="1100" b="0" u="sng" dirty="0" err="1">
                <a:solidFill>
                  <a:srgbClr val="FFEEBB"/>
                </a:solidFill>
                <a:effectLst/>
                <a:latin typeface="Consolas" panose="020B0609020204030204" pitchFamily="49" charset="0"/>
              </a:rPr>
              <a:t>model_selection</a:t>
            </a:r>
            <a:r>
              <a:rPr lang="en-IN" sz="1100" b="0" dirty="0">
                <a:solidFill>
                  <a:srgbClr val="6688CC"/>
                </a:solidFill>
                <a:effectLst/>
                <a:latin typeface="Consolas" panose="020B0609020204030204" pitchFamily="49" charset="0"/>
              </a:rPr>
              <a:t> </a:t>
            </a:r>
            <a:r>
              <a:rPr lang="en-IN" sz="1100" b="0" dirty="0">
                <a:solidFill>
                  <a:srgbClr val="225588"/>
                </a:solidFill>
                <a:effectLst/>
                <a:latin typeface="Consolas" panose="020B0609020204030204" pitchFamily="49" charset="0"/>
              </a:rPr>
              <a:t>import</a:t>
            </a:r>
            <a:r>
              <a:rPr lang="en-IN" sz="1100" b="0" dirty="0">
                <a:solidFill>
                  <a:srgbClr val="6688CC"/>
                </a:solidFill>
                <a:effectLst/>
                <a:latin typeface="Consolas" panose="020B0609020204030204" pitchFamily="49" charset="0"/>
              </a:rPr>
              <a:t> </a:t>
            </a:r>
            <a:r>
              <a:rPr lang="en-IN" sz="1100" b="0" dirty="0" err="1">
                <a:solidFill>
                  <a:srgbClr val="DDBB88"/>
                </a:solidFill>
                <a:effectLst/>
                <a:latin typeface="Consolas" panose="020B0609020204030204" pitchFamily="49" charset="0"/>
              </a:rPr>
              <a:t>train_test_split</a:t>
            </a:r>
            <a:endParaRPr lang="en-IN" sz="1100" b="0" dirty="0">
              <a:solidFill>
                <a:srgbClr val="6688CC"/>
              </a:solidFill>
              <a:effectLst/>
              <a:latin typeface="Consolas" panose="020B0609020204030204" pitchFamily="49" charset="0"/>
            </a:endParaRPr>
          </a:p>
          <a:p>
            <a:r>
              <a:rPr lang="en-IN" sz="1100" b="0" dirty="0">
                <a:solidFill>
                  <a:srgbClr val="225588"/>
                </a:solidFill>
                <a:effectLst/>
                <a:latin typeface="Consolas" panose="020B0609020204030204" pitchFamily="49" charset="0"/>
              </a:rPr>
              <a:t>from</a:t>
            </a:r>
            <a:r>
              <a:rPr lang="en-IN" sz="1100" b="0" dirty="0">
                <a:solidFill>
                  <a:srgbClr val="6688CC"/>
                </a:solidFill>
                <a:effectLst/>
                <a:latin typeface="Consolas" panose="020B0609020204030204" pitchFamily="49" charset="0"/>
              </a:rPr>
              <a:t> </a:t>
            </a:r>
            <a:r>
              <a:rPr lang="en-IN" sz="1100" b="0" u="sng" dirty="0" err="1">
                <a:solidFill>
                  <a:srgbClr val="FFEEBB"/>
                </a:solidFill>
                <a:effectLst/>
                <a:latin typeface="Consolas" panose="020B0609020204030204" pitchFamily="49" charset="0"/>
              </a:rPr>
              <a:t>sklearn</a:t>
            </a:r>
            <a:r>
              <a:rPr lang="en-IN" sz="1100" b="0" dirty="0" err="1">
                <a:solidFill>
                  <a:srgbClr val="6688CC"/>
                </a:solidFill>
                <a:effectLst/>
                <a:latin typeface="Consolas" panose="020B0609020204030204" pitchFamily="49" charset="0"/>
              </a:rPr>
              <a:t>.</a:t>
            </a:r>
            <a:r>
              <a:rPr lang="en-IN" sz="1100" b="0" u="sng" dirty="0" err="1">
                <a:solidFill>
                  <a:srgbClr val="FFEEBB"/>
                </a:solidFill>
                <a:effectLst/>
                <a:latin typeface="Consolas" panose="020B0609020204030204" pitchFamily="49" charset="0"/>
              </a:rPr>
              <a:t>linear_model</a:t>
            </a:r>
            <a:r>
              <a:rPr lang="en-IN" sz="1100" b="0" dirty="0">
                <a:solidFill>
                  <a:srgbClr val="6688CC"/>
                </a:solidFill>
                <a:effectLst/>
                <a:latin typeface="Consolas" panose="020B0609020204030204" pitchFamily="49" charset="0"/>
              </a:rPr>
              <a:t> </a:t>
            </a:r>
            <a:r>
              <a:rPr lang="en-IN" sz="1100" b="0" dirty="0">
                <a:solidFill>
                  <a:srgbClr val="225588"/>
                </a:solidFill>
                <a:effectLst/>
                <a:latin typeface="Consolas" panose="020B0609020204030204" pitchFamily="49" charset="0"/>
              </a:rPr>
              <a:t>import</a:t>
            </a:r>
            <a:r>
              <a:rPr lang="en-IN" sz="1100" b="0" dirty="0">
                <a:solidFill>
                  <a:srgbClr val="6688CC"/>
                </a:solidFill>
                <a:effectLst/>
                <a:latin typeface="Consolas" panose="020B0609020204030204" pitchFamily="49" charset="0"/>
              </a:rPr>
              <a:t> </a:t>
            </a:r>
            <a:r>
              <a:rPr lang="en-IN" sz="1100" b="0" u="sng" dirty="0" err="1">
                <a:solidFill>
                  <a:srgbClr val="FFEEBB"/>
                </a:solidFill>
                <a:effectLst/>
                <a:latin typeface="Consolas" panose="020B0609020204030204" pitchFamily="49" charset="0"/>
              </a:rPr>
              <a:t>LinearRegression</a:t>
            </a:r>
            <a:endParaRPr lang="en-IN" sz="1100" b="0" dirty="0">
              <a:solidFill>
                <a:srgbClr val="6688CC"/>
              </a:solidFill>
              <a:effectLst/>
              <a:latin typeface="Consolas" panose="020B0609020204030204" pitchFamily="49" charset="0"/>
            </a:endParaRPr>
          </a:p>
          <a:p>
            <a:r>
              <a:rPr lang="en-IN" sz="1100" b="0" dirty="0">
                <a:solidFill>
                  <a:srgbClr val="225588"/>
                </a:solidFill>
                <a:effectLst/>
                <a:latin typeface="Consolas" panose="020B0609020204030204" pitchFamily="49" charset="0"/>
              </a:rPr>
              <a:t>from</a:t>
            </a:r>
            <a:r>
              <a:rPr lang="en-IN" sz="1100" b="0" dirty="0">
                <a:solidFill>
                  <a:srgbClr val="6688CC"/>
                </a:solidFill>
                <a:effectLst/>
                <a:latin typeface="Consolas" panose="020B0609020204030204" pitchFamily="49" charset="0"/>
              </a:rPr>
              <a:t> </a:t>
            </a:r>
            <a:r>
              <a:rPr lang="en-IN" sz="1100" b="0" u="sng" dirty="0" err="1">
                <a:solidFill>
                  <a:srgbClr val="FFEEBB"/>
                </a:solidFill>
                <a:effectLst/>
                <a:latin typeface="Consolas" panose="020B0609020204030204" pitchFamily="49" charset="0"/>
              </a:rPr>
              <a:t>sklearn</a:t>
            </a:r>
            <a:r>
              <a:rPr lang="en-IN" sz="1100" b="0" dirty="0" err="1">
                <a:solidFill>
                  <a:srgbClr val="6688CC"/>
                </a:solidFill>
                <a:effectLst/>
                <a:latin typeface="Consolas" panose="020B0609020204030204" pitchFamily="49" charset="0"/>
              </a:rPr>
              <a:t>.</a:t>
            </a:r>
            <a:r>
              <a:rPr lang="en-IN" sz="1100" b="0" u="sng" dirty="0" err="1">
                <a:solidFill>
                  <a:srgbClr val="FFEEBB"/>
                </a:solidFill>
                <a:effectLst/>
                <a:latin typeface="Consolas" panose="020B0609020204030204" pitchFamily="49" charset="0"/>
              </a:rPr>
              <a:t>metrics</a:t>
            </a:r>
            <a:r>
              <a:rPr lang="en-IN" sz="1100" b="0" dirty="0">
                <a:solidFill>
                  <a:srgbClr val="6688CC"/>
                </a:solidFill>
                <a:effectLst/>
                <a:latin typeface="Consolas" panose="020B0609020204030204" pitchFamily="49" charset="0"/>
              </a:rPr>
              <a:t> </a:t>
            </a:r>
            <a:r>
              <a:rPr lang="en-IN" sz="1100" b="0" dirty="0">
                <a:solidFill>
                  <a:srgbClr val="225588"/>
                </a:solidFill>
                <a:effectLst/>
                <a:latin typeface="Consolas" panose="020B0609020204030204" pitchFamily="49" charset="0"/>
              </a:rPr>
              <a:t>import</a:t>
            </a:r>
            <a:r>
              <a:rPr lang="en-IN" sz="1100" b="0" dirty="0">
                <a:solidFill>
                  <a:srgbClr val="6688CC"/>
                </a:solidFill>
                <a:effectLst/>
                <a:latin typeface="Consolas" panose="020B0609020204030204" pitchFamily="49" charset="0"/>
              </a:rPr>
              <a:t> </a:t>
            </a:r>
            <a:r>
              <a:rPr lang="en-IN" sz="1100" b="0" dirty="0" err="1">
                <a:solidFill>
                  <a:srgbClr val="DDBB88"/>
                </a:solidFill>
                <a:effectLst/>
                <a:latin typeface="Consolas" panose="020B0609020204030204" pitchFamily="49" charset="0"/>
              </a:rPr>
              <a:t>mean_squared_error</a:t>
            </a:r>
            <a:r>
              <a:rPr lang="en-IN" sz="1100" b="0" dirty="0">
                <a:solidFill>
                  <a:srgbClr val="6688CC"/>
                </a:solidFill>
                <a:effectLst/>
                <a:latin typeface="Consolas" panose="020B0609020204030204" pitchFamily="49" charset="0"/>
              </a:rPr>
              <a:t>, </a:t>
            </a:r>
            <a:r>
              <a:rPr lang="en-IN" sz="1100" b="0" dirty="0">
                <a:solidFill>
                  <a:srgbClr val="DDBB88"/>
                </a:solidFill>
                <a:effectLst/>
                <a:latin typeface="Consolas" panose="020B0609020204030204" pitchFamily="49" charset="0"/>
              </a:rPr>
              <a:t>r2_score</a:t>
            </a:r>
            <a:endParaRPr lang="en-IN" sz="1100" b="0" dirty="0">
              <a:solidFill>
                <a:srgbClr val="6688CC"/>
              </a:solidFill>
              <a:effectLst/>
              <a:latin typeface="Consolas" panose="020B0609020204030204" pitchFamily="49" charset="0"/>
            </a:endParaRPr>
          </a:p>
        </p:txBody>
      </p:sp>
      <p:sp>
        <p:nvSpPr>
          <p:cNvPr id="10" name="Shape 0">
            <a:extLst>
              <a:ext uri="{FF2B5EF4-FFF2-40B4-BE49-F238E27FC236}">
                <a16:creationId xmlns:a16="http://schemas.microsoft.com/office/drawing/2014/main" id="{C847CED5-959C-4E05-A707-C9DB18262F29}"/>
              </a:ext>
            </a:extLst>
          </p:cNvPr>
          <p:cNvSpPr/>
          <p:nvPr/>
        </p:nvSpPr>
        <p:spPr>
          <a:xfrm>
            <a:off x="457200" y="168671"/>
            <a:ext cx="4389120" cy="517129"/>
          </a:xfrm>
          <a:prstGeom prst="rect">
            <a:avLst/>
          </a:prstGeom>
          <a:solidFill>
            <a:srgbClr val="F59E0B"/>
          </a:solidFill>
          <a:ln w="12700">
            <a:solidFill>
              <a:srgbClr val="F59E0B"/>
            </a:solidFill>
            <a:prstDash val="solid"/>
          </a:ln>
        </p:spPr>
      </p:sp>
      <p:sp>
        <p:nvSpPr>
          <p:cNvPr id="8" name="TextBox 7">
            <a:extLst>
              <a:ext uri="{FF2B5EF4-FFF2-40B4-BE49-F238E27FC236}">
                <a16:creationId xmlns:a16="http://schemas.microsoft.com/office/drawing/2014/main" id="{CCB89089-C635-468A-84CB-82ADA71E4FE5}"/>
              </a:ext>
            </a:extLst>
          </p:cNvPr>
          <p:cNvSpPr txBox="1"/>
          <p:nvPr/>
        </p:nvSpPr>
        <p:spPr>
          <a:xfrm>
            <a:off x="457200" y="251656"/>
            <a:ext cx="3307059" cy="646331"/>
          </a:xfrm>
          <a:prstGeom prst="rect">
            <a:avLst/>
          </a:prstGeom>
          <a:noFill/>
        </p:spPr>
        <p:txBody>
          <a:bodyPr wrap="none" rtlCol="0">
            <a:spAutoFit/>
          </a:bodyPr>
          <a:lstStyle/>
          <a:p>
            <a:r>
              <a:rPr lang="en-US" sz="1800" b="1" dirty="0">
                <a:solidFill>
                  <a:srgbClr val="92400E"/>
                </a:solidFill>
                <a:latin typeface="Calibri" pitchFamily="34" charset="0"/>
                <a:ea typeface="Calibri" pitchFamily="34" charset="-122"/>
                <a:cs typeface="Calibri" pitchFamily="34" charset="-120"/>
              </a:rPr>
              <a:t>Cell 1  —  Importing the Libraries</a:t>
            </a:r>
            <a:endParaRPr lang="en-US" sz="1800"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C9F3">
            <a:alpha val="61000"/>
          </a:srgbClr>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411480"/>
          </a:xfrm>
          <a:prstGeom prst="rect">
            <a:avLst/>
          </a:prstGeom>
          <a:noFill/>
          <a:ln/>
        </p:spPr>
        <p:txBody>
          <a:bodyPr wrap="square" lIns="0" tIns="0" rIns="0" bIns="0" rtlCol="0" anchor="ctr"/>
          <a:lstStyle/>
          <a:p>
            <a:pPr marL="0" indent="0">
              <a:buNone/>
            </a:pPr>
            <a:endParaRPr lang="en-US" sz="2200" dirty="0"/>
          </a:p>
        </p:txBody>
      </p:sp>
      <p:sp>
        <p:nvSpPr>
          <p:cNvPr id="3" name="Shape 1"/>
          <p:cNvSpPr/>
          <p:nvPr/>
        </p:nvSpPr>
        <p:spPr>
          <a:xfrm>
            <a:off x="444452" y="995589"/>
            <a:ext cx="4218987" cy="940799"/>
          </a:xfrm>
          <a:prstGeom prst="rect">
            <a:avLst/>
          </a:prstGeom>
          <a:solidFill>
            <a:srgbClr val="1F2937"/>
          </a:solidFill>
          <a:ln w="12700">
            <a:solidFill>
              <a:srgbClr val="374151"/>
            </a:solidFill>
            <a:prstDash val="solid"/>
          </a:ln>
        </p:spPr>
      </p:sp>
      <p:sp>
        <p:nvSpPr>
          <p:cNvPr id="4" name="Text 2"/>
          <p:cNvSpPr/>
          <p:nvPr/>
        </p:nvSpPr>
        <p:spPr>
          <a:xfrm>
            <a:off x="539496" y="1015289"/>
            <a:ext cx="3931920" cy="475488"/>
          </a:xfrm>
          <a:prstGeom prst="rect">
            <a:avLst/>
          </a:prstGeom>
          <a:noFill/>
          <a:ln/>
        </p:spPr>
        <p:txBody>
          <a:bodyPr wrap="square" lIns="0" tIns="0" rIns="0" bIns="0" rtlCol="0" anchor="t"/>
          <a:lstStyle/>
          <a:p>
            <a:endParaRPr lang="en-IN" sz="1100" b="0" dirty="0">
              <a:solidFill>
                <a:srgbClr val="6688CC"/>
              </a:solidFill>
              <a:effectLst/>
              <a:latin typeface="Consolas" panose="020B0609020204030204" pitchFamily="49" charset="0"/>
            </a:endParaRPr>
          </a:p>
          <a:p>
            <a:r>
              <a:rPr lang="en-IN" sz="1100" b="0" dirty="0">
                <a:solidFill>
                  <a:srgbClr val="6688CC"/>
                </a:solidFill>
                <a:effectLst/>
                <a:latin typeface="Consolas" panose="020B0609020204030204" pitchFamily="49" charset="0"/>
              </a:rPr>
              <a:t>Df=</a:t>
            </a:r>
            <a:r>
              <a:rPr lang="en-IN" sz="1100" b="0" u="sng" dirty="0" err="1">
                <a:solidFill>
                  <a:srgbClr val="FFEEBB"/>
                </a:solidFill>
                <a:effectLst/>
                <a:latin typeface="Consolas" panose="020B0609020204030204" pitchFamily="49" charset="0"/>
              </a:rPr>
              <a:t>pd</a:t>
            </a:r>
            <a:r>
              <a:rPr lang="en-IN" sz="1100" b="0" dirty="0" err="1">
                <a:solidFill>
                  <a:srgbClr val="6688CC"/>
                </a:solidFill>
                <a:effectLst/>
                <a:latin typeface="Consolas" panose="020B0609020204030204" pitchFamily="49" charset="0"/>
              </a:rPr>
              <a:t>.</a:t>
            </a:r>
            <a:r>
              <a:rPr lang="en-IN" sz="1100" b="0" dirty="0" err="1">
                <a:solidFill>
                  <a:srgbClr val="DDBB88"/>
                </a:solidFill>
                <a:effectLst/>
                <a:latin typeface="Consolas" panose="020B0609020204030204" pitchFamily="49" charset="0"/>
              </a:rPr>
              <a:t>read_csv</a:t>
            </a:r>
            <a:r>
              <a:rPr lang="en-IN" sz="1100" b="0" dirty="0">
                <a:solidFill>
                  <a:srgbClr val="6688CC"/>
                </a:solidFill>
                <a:effectLst/>
                <a:latin typeface="Consolas" panose="020B0609020204030204" pitchFamily="49" charset="0"/>
              </a:rPr>
              <a:t>(</a:t>
            </a:r>
            <a:r>
              <a:rPr lang="en-IN" sz="1100" b="0" i="1" dirty="0" err="1">
                <a:solidFill>
                  <a:srgbClr val="9966B8"/>
                </a:solidFill>
                <a:effectLst/>
                <a:latin typeface="Consolas" panose="020B0609020204030204" pitchFamily="49" charset="0"/>
              </a:rPr>
              <a:t>r</a:t>
            </a:r>
            <a:r>
              <a:rPr lang="en-IN" sz="1100" b="0" dirty="0" err="1">
                <a:solidFill>
                  <a:srgbClr val="22AA44"/>
                </a:solidFill>
                <a:effectLst/>
                <a:latin typeface="Consolas" panose="020B0609020204030204" pitchFamily="49" charset="0"/>
              </a:rPr>
              <a:t>"C</a:t>
            </a:r>
            <a:r>
              <a:rPr lang="en-IN" sz="1100" b="0" dirty="0">
                <a:solidFill>
                  <a:srgbClr val="22AA44"/>
                </a:solidFill>
                <a:effectLst/>
                <a:latin typeface="Consolas" panose="020B0609020204030204" pitchFamily="49" charset="0"/>
              </a:rPr>
              <a:t>:</a:t>
            </a:r>
            <a:r>
              <a:rPr lang="en-IN" sz="1100" b="0" dirty="0">
                <a:solidFill>
                  <a:srgbClr val="F280D0"/>
                </a:solidFill>
                <a:effectLst/>
                <a:latin typeface="Consolas" panose="020B0609020204030204" pitchFamily="49" charset="0"/>
              </a:rPr>
              <a:t>\U</a:t>
            </a:r>
            <a:r>
              <a:rPr lang="en-IN" sz="1100" b="0" dirty="0">
                <a:solidFill>
                  <a:srgbClr val="22AA44"/>
                </a:solidFill>
                <a:effectLst/>
                <a:latin typeface="Consolas" panose="020B0609020204030204" pitchFamily="49" charset="0"/>
              </a:rPr>
              <a:t>sers\dell</a:t>
            </a:r>
            <a:r>
              <a:rPr lang="en-IN" sz="1100" b="0" dirty="0">
                <a:solidFill>
                  <a:srgbClr val="F280D0"/>
                </a:solidFill>
                <a:effectLst/>
                <a:latin typeface="Consolas" panose="020B0609020204030204" pitchFamily="49" charset="0"/>
              </a:rPr>
              <a:t>\O</a:t>
            </a:r>
            <a:r>
              <a:rPr lang="en-IN" sz="1100" b="0" dirty="0">
                <a:solidFill>
                  <a:srgbClr val="22AA44"/>
                </a:solidFill>
                <a:effectLst/>
                <a:latin typeface="Consolas" panose="020B0609020204030204" pitchFamily="49" charset="0"/>
              </a:rPr>
              <a:t>neDrive\Desktop</a:t>
            </a:r>
            <a:r>
              <a:rPr lang="en-IN" sz="1100" b="0" dirty="0">
                <a:solidFill>
                  <a:srgbClr val="F280D0"/>
                </a:solidFill>
                <a:effectLst/>
                <a:latin typeface="Consolas" panose="020B0609020204030204" pitchFamily="49" charset="0"/>
              </a:rPr>
              <a:t>\n</a:t>
            </a:r>
            <a:r>
              <a:rPr lang="en-IN" sz="1100" b="0" dirty="0">
                <a:solidFill>
                  <a:srgbClr val="22AA44"/>
                </a:solidFill>
                <a:effectLst/>
                <a:latin typeface="Consolas" panose="020B0609020204030204" pitchFamily="49" charset="0"/>
              </a:rPr>
              <a:t>ew project\data.csv</a:t>
            </a:r>
            <a:r>
              <a:rPr lang="en-IN" sz="1100" b="0" dirty="0">
                <a:solidFill>
                  <a:srgbClr val="F280D0"/>
                </a:solidFill>
                <a:effectLst/>
                <a:latin typeface="Consolas" panose="020B0609020204030204" pitchFamily="49" charset="0"/>
              </a:rPr>
              <a:t>\e</a:t>
            </a:r>
            <a:r>
              <a:rPr lang="en-IN" sz="1100" b="0" dirty="0">
                <a:solidFill>
                  <a:srgbClr val="22AA44"/>
                </a:solidFill>
                <a:effectLst/>
                <a:latin typeface="Consolas" panose="020B0609020204030204" pitchFamily="49" charset="0"/>
              </a:rPr>
              <a:t>da_data.csv"</a:t>
            </a:r>
            <a:r>
              <a:rPr lang="en-IN" sz="1100" b="0" dirty="0">
                <a:solidFill>
                  <a:srgbClr val="6688CC"/>
                </a:solidFill>
                <a:effectLst/>
                <a:latin typeface="Consolas" panose="020B0609020204030204" pitchFamily="49" charset="0"/>
              </a:rPr>
              <a:t>)</a:t>
            </a:r>
            <a:br>
              <a:rPr lang="en-IN" sz="1100" b="0" dirty="0">
                <a:solidFill>
                  <a:srgbClr val="6688CC"/>
                </a:solidFill>
                <a:effectLst/>
                <a:latin typeface="Consolas" panose="020B0609020204030204" pitchFamily="49" charset="0"/>
              </a:rPr>
            </a:br>
            <a:r>
              <a:rPr lang="en-IN" sz="1100" b="0" dirty="0" err="1">
                <a:solidFill>
                  <a:srgbClr val="6688CC"/>
                </a:solidFill>
                <a:effectLst/>
                <a:latin typeface="Consolas" panose="020B0609020204030204" pitchFamily="49" charset="0"/>
              </a:rPr>
              <a:t>df.</a:t>
            </a:r>
            <a:r>
              <a:rPr lang="en-IN" sz="1100" b="0" dirty="0" err="1">
                <a:solidFill>
                  <a:srgbClr val="DDBB88"/>
                </a:solidFill>
                <a:effectLst/>
                <a:latin typeface="Consolas" panose="020B0609020204030204" pitchFamily="49" charset="0"/>
              </a:rPr>
              <a:t>head</a:t>
            </a:r>
            <a:r>
              <a:rPr lang="en-IN" sz="1100" b="0" dirty="0">
                <a:solidFill>
                  <a:srgbClr val="6688CC"/>
                </a:solidFill>
                <a:effectLst/>
                <a:latin typeface="Consolas" panose="020B0609020204030204" pitchFamily="49" charset="0"/>
              </a:rPr>
              <a:t>()</a:t>
            </a:r>
          </a:p>
          <a:p>
            <a:pPr marL="0" indent="0">
              <a:buNone/>
            </a:pPr>
            <a:endParaRPr lang="en-US" sz="1100" dirty="0"/>
          </a:p>
        </p:txBody>
      </p:sp>
      <p:sp>
        <p:nvSpPr>
          <p:cNvPr id="5" name="Text 3"/>
          <p:cNvSpPr/>
          <p:nvPr/>
        </p:nvSpPr>
        <p:spPr>
          <a:xfrm>
            <a:off x="4846320" y="686104"/>
            <a:ext cx="4023360" cy="996391"/>
          </a:xfrm>
          <a:prstGeom prst="rect">
            <a:avLst/>
          </a:prstGeom>
          <a:noFill/>
          <a:ln/>
        </p:spPr>
        <p:txBody>
          <a:bodyPr wrap="square" lIns="0" tIns="0" rIns="0" bIns="0" rtlCol="0" anchor="t"/>
          <a:lstStyle/>
          <a:p>
            <a:pPr marL="0" indent="0">
              <a:buNone/>
            </a:pPr>
            <a:r>
              <a:rPr lang="en-US" sz="1600" dirty="0">
                <a:solidFill>
                  <a:srgbClr val="374151"/>
                </a:solidFill>
                <a:latin typeface="Calibri" pitchFamily="34" charset="0"/>
                <a:ea typeface="Calibri" pitchFamily="34" charset="-122"/>
                <a:cs typeface="Calibri" pitchFamily="34" charset="-120"/>
              </a:rPr>
              <a:t>This reads our CSV file and saves it as a DataFrame called df. Then df.head() just shows us the first 5 rows so we can make sure the data loaded properly.</a:t>
            </a:r>
            <a:endParaRPr lang="en-US" sz="1600" dirty="0"/>
          </a:p>
        </p:txBody>
      </p:sp>
      <p:sp>
        <p:nvSpPr>
          <p:cNvPr id="7" name="Text 5"/>
          <p:cNvSpPr/>
          <p:nvPr/>
        </p:nvSpPr>
        <p:spPr>
          <a:xfrm>
            <a:off x="457200" y="1755648"/>
            <a:ext cx="8229600" cy="411480"/>
          </a:xfrm>
          <a:prstGeom prst="rect">
            <a:avLst/>
          </a:prstGeom>
          <a:noFill/>
          <a:ln/>
        </p:spPr>
        <p:txBody>
          <a:bodyPr wrap="square" lIns="0" tIns="0" rIns="0" bIns="0" rtlCol="0" anchor="ctr"/>
          <a:lstStyle/>
          <a:p>
            <a:pPr marL="0" indent="0">
              <a:buNone/>
            </a:pPr>
            <a:endParaRPr lang="en-US" sz="2200" dirty="0"/>
          </a:p>
        </p:txBody>
      </p:sp>
      <p:sp>
        <p:nvSpPr>
          <p:cNvPr id="9" name="Text 7"/>
          <p:cNvSpPr/>
          <p:nvPr/>
        </p:nvSpPr>
        <p:spPr>
          <a:xfrm>
            <a:off x="581613" y="342192"/>
            <a:ext cx="3931920" cy="594360"/>
          </a:xfrm>
          <a:prstGeom prst="rect">
            <a:avLst/>
          </a:prstGeom>
          <a:noFill/>
          <a:ln/>
        </p:spPr>
        <p:txBody>
          <a:bodyPr wrap="square" lIns="0" tIns="0" rIns="0" bIns="0" rtlCol="0" anchor="t"/>
          <a:lstStyle/>
          <a:p>
            <a:pPr marL="0" indent="0">
              <a:buNone/>
            </a:pPr>
            <a:endParaRPr lang="en-US" sz="1100" dirty="0"/>
          </a:p>
        </p:txBody>
      </p:sp>
      <p:sp>
        <p:nvSpPr>
          <p:cNvPr id="10" name="Text 8"/>
          <p:cNvSpPr/>
          <p:nvPr/>
        </p:nvSpPr>
        <p:spPr>
          <a:xfrm>
            <a:off x="594360" y="2304288"/>
            <a:ext cx="3931920" cy="594360"/>
          </a:xfrm>
          <a:prstGeom prst="rect">
            <a:avLst/>
          </a:prstGeom>
          <a:noFill/>
          <a:ln/>
        </p:spPr>
        <p:txBody>
          <a:bodyPr wrap="square" lIns="0" tIns="0" rIns="0" bIns="0" rtlCol="0" anchor="t"/>
          <a:lstStyle/>
          <a:p>
            <a:pPr marL="0" indent="0">
              <a:buNone/>
            </a:pPr>
            <a:endParaRPr lang="en-US" sz="1100" dirty="0"/>
          </a:p>
        </p:txBody>
      </p:sp>
      <p:sp>
        <p:nvSpPr>
          <p:cNvPr id="11" name="Text 9"/>
          <p:cNvSpPr/>
          <p:nvPr/>
        </p:nvSpPr>
        <p:spPr>
          <a:xfrm>
            <a:off x="4846320" y="2240280"/>
            <a:ext cx="4023360" cy="1280160"/>
          </a:xfrm>
          <a:prstGeom prst="rect">
            <a:avLst/>
          </a:prstGeom>
          <a:noFill/>
          <a:ln/>
        </p:spPr>
        <p:txBody>
          <a:bodyPr wrap="square" lIns="0" tIns="0" rIns="0" bIns="0" rtlCol="0" anchor="t"/>
          <a:lstStyle/>
          <a:p>
            <a:pPr marL="0" indent="0">
              <a:buNone/>
            </a:pPr>
            <a:endParaRPr lang="en-US" sz="1250" dirty="0"/>
          </a:p>
        </p:txBody>
      </p:sp>
      <p:sp>
        <p:nvSpPr>
          <p:cNvPr id="12" name="Text 10"/>
          <p:cNvSpPr/>
          <p:nvPr/>
        </p:nvSpPr>
        <p:spPr>
          <a:xfrm>
            <a:off x="457200" y="3226002"/>
            <a:ext cx="2194560" cy="274320"/>
          </a:xfrm>
          <a:prstGeom prst="rect">
            <a:avLst/>
          </a:prstGeom>
          <a:noFill/>
          <a:ln/>
        </p:spPr>
        <p:txBody>
          <a:bodyPr wrap="square" lIns="0" tIns="0" rIns="0" bIns="0" rtlCol="0" anchor="ctr"/>
          <a:lstStyle/>
          <a:p>
            <a:pPr marL="0" indent="0">
              <a:buNone/>
            </a:pPr>
            <a:endParaRPr lang="en-US" sz="1200" dirty="0"/>
          </a:p>
        </p:txBody>
      </p:sp>
      <p:sp>
        <p:nvSpPr>
          <p:cNvPr id="16" name="Shape 1">
            <a:extLst>
              <a:ext uri="{FF2B5EF4-FFF2-40B4-BE49-F238E27FC236}">
                <a16:creationId xmlns:a16="http://schemas.microsoft.com/office/drawing/2014/main" id="{E48DDE24-3637-4681-A115-069792F62680}"/>
              </a:ext>
            </a:extLst>
          </p:cNvPr>
          <p:cNvSpPr/>
          <p:nvPr/>
        </p:nvSpPr>
        <p:spPr>
          <a:xfrm>
            <a:off x="457200" y="164592"/>
            <a:ext cx="4173269" cy="523343"/>
          </a:xfrm>
          <a:prstGeom prst="rect">
            <a:avLst/>
          </a:prstGeom>
          <a:solidFill>
            <a:srgbClr val="EC4899"/>
          </a:solidFill>
          <a:ln w="12700">
            <a:solidFill>
              <a:srgbClr val="EC4899"/>
            </a:solidFill>
            <a:prstDash val="solid"/>
          </a:ln>
        </p:spPr>
      </p:sp>
      <p:sp>
        <p:nvSpPr>
          <p:cNvPr id="13" name="TextBox 12">
            <a:extLst>
              <a:ext uri="{FF2B5EF4-FFF2-40B4-BE49-F238E27FC236}">
                <a16:creationId xmlns:a16="http://schemas.microsoft.com/office/drawing/2014/main" id="{125DE9F3-9C0D-4BEB-A0CA-03240B189703}"/>
              </a:ext>
            </a:extLst>
          </p:cNvPr>
          <p:cNvSpPr txBox="1"/>
          <p:nvPr/>
        </p:nvSpPr>
        <p:spPr>
          <a:xfrm>
            <a:off x="464677" y="219616"/>
            <a:ext cx="3113160" cy="677108"/>
          </a:xfrm>
          <a:prstGeom prst="rect">
            <a:avLst/>
          </a:prstGeom>
          <a:noFill/>
        </p:spPr>
        <p:txBody>
          <a:bodyPr wrap="none" rtlCol="0">
            <a:spAutoFit/>
          </a:bodyPr>
          <a:lstStyle/>
          <a:p>
            <a:r>
              <a:rPr lang="en-US" sz="1800" b="1" dirty="0">
                <a:solidFill>
                  <a:schemeClr val="bg1"/>
                </a:solidFill>
                <a:latin typeface="Calibri" pitchFamily="34" charset="0"/>
                <a:ea typeface="Calibri" pitchFamily="34" charset="-122"/>
                <a:cs typeface="Calibri" pitchFamily="34" charset="-120"/>
              </a:rPr>
              <a:t>Cell 2  —  Loading the </a:t>
            </a:r>
            <a:r>
              <a:rPr lang="en-US" sz="2000" b="1" dirty="0">
                <a:solidFill>
                  <a:schemeClr val="bg1"/>
                </a:solidFill>
                <a:latin typeface="Calibri" pitchFamily="34" charset="0"/>
                <a:ea typeface="Calibri" pitchFamily="34" charset="-122"/>
                <a:cs typeface="Calibri" pitchFamily="34" charset="-120"/>
              </a:rPr>
              <a:t>Dataset</a:t>
            </a:r>
            <a:endParaRPr lang="en-US" sz="1800" dirty="0">
              <a:solidFill>
                <a:schemeClr val="bg1"/>
              </a:solidFill>
            </a:endParaRPr>
          </a:p>
          <a:p>
            <a:endParaRPr lang="en-IN" dirty="0"/>
          </a:p>
        </p:txBody>
      </p:sp>
      <p:pic>
        <p:nvPicPr>
          <p:cNvPr id="18" name="Picture 17">
            <a:extLst>
              <a:ext uri="{FF2B5EF4-FFF2-40B4-BE49-F238E27FC236}">
                <a16:creationId xmlns:a16="http://schemas.microsoft.com/office/drawing/2014/main" id="{721D8AE5-879A-47C4-BDE9-251C842BB250}"/>
              </a:ext>
            </a:extLst>
          </p:cNvPr>
          <p:cNvPicPr>
            <a:picLocks noChangeAspect="1"/>
          </p:cNvPicPr>
          <p:nvPr/>
        </p:nvPicPr>
        <p:blipFill>
          <a:blip r:embed="rId3"/>
          <a:stretch>
            <a:fillRect/>
          </a:stretch>
        </p:blipFill>
        <p:spPr>
          <a:xfrm>
            <a:off x="3440580" y="2054919"/>
            <a:ext cx="5165537" cy="2890805"/>
          </a:xfrm>
          <a:prstGeom prst="rect">
            <a:avLst/>
          </a:prstGeom>
        </p:spPr>
      </p:pic>
      <p:sp>
        <p:nvSpPr>
          <p:cNvPr id="19" name="TextBox 18">
            <a:extLst>
              <a:ext uri="{FF2B5EF4-FFF2-40B4-BE49-F238E27FC236}">
                <a16:creationId xmlns:a16="http://schemas.microsoft.com/office/drawing/2014/main" id="{E99A2860-3EB6-4E44-903B-BBA3CA399F2F}"/>
              </a:ext>
            </a:extLst>
          </p:cNvPr>
          <p:cNvSpPr txBox="1"/>
          <p:nvPr/>
        </p:nvSpPr>
        <p:spPr>
          <a:xfrm>
            <a:off x="315045" y="2355904"/>
            <a:ext cx="1667436" cy="369332"/>
          </a:xfrm>
          <a:prstGeom prst="rect">
            <a:avLst/>
          </a:prstGeom>
          <a:noFill/>
        </p:spPr>
        <p:txBody>
          <a:bodyPr wrap="square" rtlCol="0">
            <a:spAutoFit/>
          </a:bodyPr>
          <a:lstStyle/>
          <a:p>
            <a:r>
              <a:rPr lang="en-GB" dirty="0">
                <a:solidFill>
                  <a:schemeClr val="bg1"/>
                </a:solidFill>
                <a:highlight>
                  <a:srgbClr val="AB5ABE"/>
                </a:highlight>
              </a:rPr>
              <a:t>Data output:</a:t>
            </a:r>
            <a:endParaRPr lang="en-IN" dirty="0">
              <a:solidFill>
                <a:schemeClr val="bg1"/>
              </a:solidFill>
              <a:highlight>
                <a:srgbClr val="AB5ABE"/>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4B5FD">
            <a:alpha val="66000"/>
          </a:srgbClr>
        </a:solidFill>
        <a:effectLst/>
      </p:bgPr>
    </p:bg>
    <p:spTree>
      <p:nvGrpSpPr>
        <p:cNvPr id="1" name=""/>
        <p:cNvGrpSpPr/>
        <p:nvPr/>
      </p:nvGrpSpPr>
      <p:grpSpPr>
        <a:xfrm>
          <a:off x="0" y="0"/>
          <a:ext cx="0" cy="0"/>
          <a:chOff x="0" y="0"/>
          <a:chExt cx="0" cy="0"/>
        </a:xfrm>
      </p:grpSpPr>
      <p:sp>
        <p:nvSpPr>
          <p:cNvPr id="2" name="Shape 3">
            <a:extLst>
              <a:ext uri="{FF2B5EF4-FFF2-40B4-BE49-F238E27FC236}">
                <a16:creationId xmlns:a16="http://schemas.microsoft.com/office/drawing/2014/main" id="{24DF7589-391C-408D-9449-C66ECB7F66BD}"/>
              </a:ext>
            </a:extLst>
          </p:cNvPr>
          <p:cNvSpPr/>
          <p:nvPr/>
        </p:nvSpPr>
        <p:spPr>
          <a:xfrm>
            <a:off x="458352" y="338327"/>
            <a:ext cx="4190487" cy="568389"/>
          </a:xfrm>
          <a:prstGeom prst="rect">
            <a:avLst/>
          </a:prstGeom>
          <a:solidFill>
            <a:srgbClr val="7C3AED"/>
          </a:solidFill>
          <a:ln w="12700">
            <a:solidFill>
              <a:srgbClr val="7C3AED"/>
            </a:solidFill>
            <a:prstDash val="solid"/>
          </a:ln>
        </p:spPr>
        <p:txBody>
          <a:bodyPr/>
          <a:lstStyle/>
          <a:p>
            <a:endParaRPr lang="en-IN" dirty="0"/>
          </a:p>
        </p:txBody>
      </p:sp>
      <p:sp>
        <p:nvSpPr>
          <p:cNvPr id="3" name="TextBox 2">
            <a:extLst>
              <a:ext uri="{FF2B5EF4-FFF2-40B4-BE49-F238E27FC236}">
                <a16:creationId xmlns:a16="http://schemas.microsoft.com/office/drawing/2014/main" id="{033C887F-26D1-4321-B410-53E93946A3E1}"/>
              </a:ext>
            </a:extLst>
          </p:cNvPr>
          <p:cNvSpPr txBox="1"/>
          <p:nvPr/>
        </p:nvSpPr>
        <p:spPr>
          <a:xfrm>
            <a:off x="420539" y="436888"/>
            <a:ext cx="3989490" cy="646331"/>
          </a:xfrm>
          <a:prstGeom prst="rect">
            <a:avLst/>
          </a:prstGeom>
          <a:noFill/>
        </p:spPr>
        <p:txBody>
          <a:bodyPr wrap="none" rtlCol="0">
            <a:spAutoFit/>
          </a:bodyPr>
          <a:lstStyle/>
          <a:p>
            <a:r>
              <a:rPr lang="en-US" sz="1800" b="1" dirty="0">
                <a:solidFill>
                  <a:srgbClr val="F7C9F3"/>
                </a:solidFill>
                <a:latin typeface="Calibri" pitchFamily="34" charset="0"/>
                <a:ea typeface="Calibri" pitchFamily="34" charset="-122"/>
                <a:cs typeface="Calibri" pitchFamily="34" charset="-120"/>
              </a:rPr>
              <a:t>Cell 3  —  Selecting Only What We Need</a:t>
            </a:r>
            <a:endParaRPr lang="en-US" sz="1800" dirty="0">
              <a:solidFill>
                <a:srgbClr val="F7C9F3"/>
              </a:solidFill>
            </a:endParaRPr>
          </a:p>
          <a:p>
            <a:endParaRPr lang="en-IN" dirty="0"/>
          </a:p>
        </p:txBody>
      </p:sp>
      <p:sp>
        <p:nvSpPr>
          <p:cNvPr id="4" name="Shape 6">
            <a:extLst>
              <a:ext uri="{FF2B5EF4-FFF2-40B4-BE49-F238E27FC236}">
                <a16:creationId xmlns:a16="http://schemas.microsoft.com/office/drawing/2014/main" id="{82FF888A-FC89-43B4-9A89-51B8E925B99A}"/>
              </a:ext>
            </a:extLst>
          </p:cNvPr>
          <p:cNvSpPr/>
          <p:nvPr/>
        </p:nvSpPr>
        <p:spPr>
          <a:xfrm>
            <a:off x="358460" y="1269185"/>
            <a:ext cx="4313434" cy="1302565"/>
          </a:xfrm>
          <a:prstGeom prst="rect">
            <a:avLst/>
          </a:prstGeom>
          <a:solidFill>
            <a:srgbClr val="1F2937"/>
          </a:solidFill>
          <a:ln w="12700">
            <a:solidFill>
              <a:srgbClr val="374151"/>
            </a:solidFill>
            <a:prstDash val="solid"/>
          </a:ln>
        </p:spPr>
      </p:sp>
      <p:sp>
        <p:nvSpPr>
          <p:cNvPr id="6" name="TextBox 5">
            <a:extLst>
              <a:ext uri="{FF2B5EF4-FFF2-40B4-BE49-F238E27FC236}">
                <a16:creationId xmlns:a16="http://schemas.microsoft.com/office/drawing/2014/main" id="{1A08050E-13FC-44DF-8B32-53161E3A9637}"/>
              </a:ext>
            </a:extLst>
          </p:cNvPr>
          <p:cNvSpPr txBox="1"/>
          <p:nvPr/>
        </p:nvSpPr>
        <p:spPr>
          <a:xfrm>
            <a:off x="420539" y="1361438"/>
            <a:ext cx="4113648" cy="938719"/>
          </a:xfrm>
          <a:prstGeom prst="rect">
            <a:avLst/>
          </a:prstGeom>
          <a:noFill/>
        </p:spPr>
        <p:txBody>
          <a:bodyPr wrap="square">
            <a:spAutoFit/>
          </a:bodyPr>
          <a:lstStyle/>
          <a:p>
            <a:r>
              <a:rPr lang="en-IN" sz="1100" b="0" dirty="0">
                <a:solidFill>
                  <a:srgbClr val="6688CC"/>
                </a:solidFill>
                <a:effectLst/>
                <a:latin typeface="Consolas" panose="020B0609020204030204" pitchFamily="49" charset="0"/>
              </a:rPr>
              <a:t>data </a:t>
            </a:r>
            <a:r>
              <a:rPr lang="en-IN" sz="1100" b="0" dirty="0">
                <a:solidFill>
                  <a:srgbClr val="225588"/>
                </a:solidFill>
                <a:effectLst/>
                <a:latin typeface="Consolas" panose="020B0609020204030204" pitchFamily="49" charset="0"/>
              </a:rPr>
              <a:t>=</a:t>
            </a:r>
            <a:r>
              <a:rPr lang="en-IN" sz="1100" b="0" dirty="0">
                <a:solidFill>
                  <a:srgbClr val="6688CC"/>
                </a:solidFill>
                <a:effectLst/>
                <a:latin typeface="Consolas" panose="020B0609020204030204" pitchFamily="49" charset="0"/>
              </a:rPr>
              <a:t> df[[</a:t>
            </a:r>
            <a:r>
              <a:rPr lang="en-IN" sz="1100" b="0" dirty="0">
                <a:solidFill>
                  <a:srgbClr val="22AA44"/>
                </a:solidFill>
                <a:effectLst/>
                <a:latin typeface="Consolas" panose="020B0609020204030204" pitchFamily="49" charset="0"/>
              </a:rPr>
              <a:t>'Rating'</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'age'</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'python_</a:t>
            </a:r>
            <a:r>
              <a:rPr lang="en-IN" sz="1100" b="0" dirty="0" err="1">
                <a:solidFill>
                  <a:srgbClr val="22AA44"/>
                </a:solidFill>
                <a:effectLst/>
                <a:latin typeface="Consolas" panose="020B0609020204030204" pitchFamily="49" charset="0"/>
              </a:rPr>
              <a:t>yn</a:t>
            </a:r>
            <a:r>
              <a:rPr lang="en-IN" sz="1100" b="0" dirty="0">
                <a:solidFill>
                  <a:srgbClr val="22AA44"/>
                </a:solidFill>
                <a:effectLst/>
                <a:latin typeface="Consolas" panose="020B0609020204030204" pitchFamily="49" charset="0"/>
              </a:rPr>
              <a:t>'</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a:t>
            </a:r>
            <a:r>
              <a:rPr lang="en-IN" sz="1100" b="0" dirty="0" err="1">
                <a:solidFill>
                  <a:srgbClr val="22AA44"/>
                </a:solidFill>
                <a:effectLst/>
                <a:latin typeface="Consolas" panose="020B0609020204030204" pitchFamily="49" charset="0"/>
              </a:rPr>
              <a:t>aws</a:t>
            </a:r>
            <a:r>
              <a:rPr lang="en-IN" sz="1100" b="0" dirty="0">
                <a:solidFill>
                  <a:srgbClr val="22AA44"/>
                </a:solidFill>
                <a:effectLst/>
                <a:latin typeface="Consolas" panose="020B0609020204030204" pitchFamily="49" charset="0"/>
              </a:rPr>
              <a:t>'</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'excel'</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a:t>
            </a:r>
            <a:r>
              <a:rPr lang="en-IN" sz="1100" b="0" dirty="0" err="1">
                <a:solidFill>
                  <a:srgbClr val="22AA44"/>
                </a:solidFill>
                <a:effectLst/>
                <a:latin typeface="Consolas" panose="020B0609020204030204" pitchFamily="49" charset="0"/>
              </a:rPr>
              <a:t>avg_salary</a:t>
            </a:r>
            <a:r>
              <a:rPr lang="en-IN" sz="1100" b="0" dirty="0">
                <a:solidFill>
                  <a:srgbClr val="22AA44"/>
                </a:solidFill>
                <a:effectLst/>
                <a:latin typeface="Consolas" panose="020B0609020204030204" pitchFamily="49" charset="0"/>
              </a:rPr>
              <a:t>'</a:t>
            </a:r>
            <a:r>
              <a:rPr lang="en-IN" sz="1100" b="0" dirty="0">
                <a:solidFill>
                  <a:srgbClr val="6688CC"/>
                </a:solidFill>
                <a:effectLst/>
                <a:latin typeface="Consolas" panose="020B0609020204030204" pitchFamily="49" charset="0"/>
              </a:rPr>
              <a:t>]]</a:t>
            </a:r>
            <a:br>
              <a:rPr lang="en-IN" sz="1100" b="0" dirty="0">
                <a:solidFill>
                  <a:srgbClr val="6688CC"/>
                </a:solidFill>
                <a:effectLst/>
                <a:latin typeface="Consolas" panose="020B0609020204030204" pitchFamily="49" charset="0"/>
              </a:rPr>
            </a:br>
            <a:r>
              <a:rPr lang="en-IN" sz="1100" b="0" dirty="0">
                <a:solidFill>
                  <a:srgbClr val="6688CC"/>
                </a:solidFill>
                <a:effectLst/>
                <a:latin typeface="Consolas" panose="020B0609020204030204" pitchFamily="49" charset="0"/>
              </a:rPr>
              <a:t>data </a:t>
            </a:r>
            <a:r>
              <a:rPr lang="en-IN" sz="1100" b="0" dirty="0">
                <a:solidFill>
                  <a:srgbClr val="225588"/>
                </a:solidFill>
                <a:effectLst/>
                <a:latin typeface="Consolas" panose="020B0609020204030204" pitchFamily="49" charset="0"/>
              </a:rPr>
              <a:t>=</a:t>
            </a:r>
            <a:r>
              <a:rPr lang="en-IN" sz="1100" b="0" dirty="0">
                <a:solidFill>
                  <a:srgbClr val="6688CC"/>
                </a:solidFill>
                <a:effectLst/>
                <a:latin typeface="Consolas" panose="020B0609020204030204" pitchFamily="49" charset="0"/>
              </a:rPr>
              <a:t> </a:t>
            </a:r>
            <a:r>
              <a:rPr lang="en-IN" sz="1100" b="0" dirty="0" err="1">
                <a:solidFill>
                  <a:srgbClr val="6688CC"/>
                </a:solidFill>
                <a:effectLst/>
                <a:latin typeface="Consolas" panose="020B0609020204030204" pitchFamily="49" charset="0"/>
              </a:rPr>
              <a:t>data.</a:t>
            </a:r>
            <a:r>
              <a:rPr lang="en-IN" sz="1100" b="0" dirty="0" err="1">
                <a:solidFill>
                  <a:srgbClr val="DDBB88"/>
                </a:solidFill>
                <a:effectLst/>
                <a:latin typeface="Consolas" panose="020B0609020204030204" pitchFamily="49" charset="0"/>
              </a:rPr>
              <a:t>dropna</a:t>
            </a:r>
            <a:r>
              <a:rPr lang="en-IN" sz="1100" b="0" dirty="0">
                <a:solidFill>
                  <a:srgbClr val="6688CC"/>
                </a:solidFill>
                <a:effectLst/>
                <a:latin typeface="Consolas" panose="020B0609020204030204" pitchFamily="49" charset="0"/>
              </a:rPr>
              <a:t>()</a:t>
            </a:r>
            <a:br>
              <a:rPr lang="en-IN" sz="1100" b="0" dirty="0">
                <a:solidFill>
                  <a:srgbClr val="6688CC"/>
                </a:solidFill>
                <a:effectLst/>
                <a:latin typeface="Consolas" panose="020B0609020204030204" pitchFamily="49" charset="0"/>
              </a:rPr>
            </a:br>
            <a:r>
              <a:rPr lang="en-IN" sz="1100" b="0" dirty="0" err="1">
                <a:solidFill>
                  <a:srgbClr val="6688CC"/>
                </a:solidFill>
                <a:effectLst/>
                <a:latin typeface="Consolas" panose="020B0609020204030204" pitchFamily="49" charset="0"/>
              </a:rPr>
              <a:t>data.</a:t>
            </a:r>
            <a:r>
              <a:rPr lang="en-IN" sz="1100" b="0" dirty="0" err="1">
                <a:solidFill>
                  <a:srgbClr val="DDBB88"/>
                </a:solidFill>
                <a:effectLst/>
                <a:latin typeface="Consolas" panose="020B0609020204030204" pitchFamily="49" charset="0"/>
              </a:rPr>
              <a:t>head</a:t>
            </a:r>
            <a:r>
              <a:rPr lang="en-IN" sz="1100" b="0" dirty="0">
                <a:solidFill>
                  <a:srgbClr val="6688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2B30803D-7530-4232-8A5B-B82A9E0F0818}"/>
              </a:ext>
            </a:extLst>
          </p:cNvPr>
          <p:cNvSpPr txBox="1"/>
          <p:nvPr/>
        </p:nvSpPr>
        <p:spPr>
          <a:xfrm>
            <a:off x="267595" y="2728714"/>
            <a:ext cx="4572000" cy="369332"/>
          </a:xfrm>
          <a:prstGeom prst="rect">
            <a:avLst/>
          </a:prstGeom>
          <a:noFill/>
        </p:spPr>
        <p:txBody>
          <a:bodyPr wrap="square">
            <a:spAutoFit/>
          </a:bodyPr>
          <a:lstStyle/>
          <a:p>
            <a:pPr marL="0" indent="0">
              <a:buNone/>
            </a:pPr>
            <a:r>
              <a:rPr lang="en-US" sz="1400" b="1" dirty="0">
                <a:solidFill>
                  <a:srgbClr val="6B7280"/>
                </a:solidFill>
                <a:latin typeface="Calibri" pitchFamily="34" charset="0"/>
                <a:ea typeface="Calibri" pitchFamily="34" charset="-122"/>
                <a:cs typeface="Calibri" pitchFamily="34" charset="-120"/>
              </a:rPr>
              <a:t>The data looks like this</a:t>
            </a:r>
            <a:r>
              <a:rPr lang="en-US" sz="1800" dirty="0">
                <a:solidFill>
                  <a:srgbClr val="6B7280"/>
                </a:solidFill>
                <a:latin typeface="Calibri" pitchFamily="34" charset="0"/>
                <a:ea typeface="Calibri" pitchFamily="34" charset="-122"/>
                <a:cs typeface="Calibri" pitchFamily="34" charset="-120"/>
              </a:rPr>
              <a:t>:</a:t>
            </a:r>
            <a:endParaRPr lang="en-US" sz="1800" dirty="0"/>
          </a:p>
        </p:txBody>
      </p:sp>
      <p:pic>
        <p:nvPicPr>
          <p:cNvPr id="9" name="Picture 8">
            <a:extLst>
              <a:ext uri="{FF2B5EF4-FFF2-40B4-BE49-F238E27FC236}">
                <a16:creationId xmlns:a16="http://schemas.microsoft.com/office/drawing/2014/main" id="{DBE06090-5CE8-460F-87D5-4464F3D05C37}"/>
              </a:ext>
            </a:extLst>
          </p:cNvPr>
          <p:cNvPicPr>
            <a:picLocks noChangeAspect="1"/>
          </p:cNvPicPr>
          <p:nvPr/>
        </p:nvPicPr>
        <p:blipFill>
          <a:blip r:embed="rId2"/>
          <a:stretch>
            <a:fillRect/>
          </a:stretch>
        </p:blipFill>
        <p:spPr>
          <a:xfrm>
            <a:off x="345041" y="3146807"/>
            <a:ext cx="3810386" cy="1732554"/>
          </a:xfrm>
          <a:prstGeom prst="rect">
            <a:avLst/>
          </a:prstGeom>
        </p:spPr>
      </p:pic>
      <p:sp>
        <p:nvSpPr>
          <p:cNvPr id="10" name="Shape 15">
            <a:extLst>
              <a:ext uri="{FF2B5EF4-FFF2-40B4-BE49-F238E27FC236}">
                <a16:creationId xmlns:a16="http://schemas.microsoft.com/office/drawing/2014/main" id="{A3CC9FF7-4D28-4E7B-BD96-6082341B551D}"/>
              </a:ext>
            </a:extLst>
          </p:cNvPr>
          <p:cNvSpPr/>
          <p:nvPr/>
        </p:nvSpPr>
        <p:spPr>
          <a:xfrm>
            <a:off x="4892040" y="338327"/>
            <a:ext cx="4023360" cy="4261105"/>
          </a:xfrm>
          <a:prstGeom prst="rect">
            <a:avLst/>
          </a:prstGeom>
          <a:solidFill>
            <a:srgbClr val="EDE9FE"/>
          </a:solidFill>
          <a:ln w="12700">
            <a:solidFill>
              <a:srgbClr val="C4B5FD"/>
            </a:solidFill>
            <a:prstDash val="solid"/>
          </a:ln>
        </p:spPr>
      </p:sp>
      <p:sp>
        <p:nvSpPr>
          <p:cNvPr id="11" name="TextBox 10">
            <a:extLst>
              <a:ext uri="{FF2B5EF4-FFF2-40B4-BE49-F238E27FC236}">
                <a16:creationId xmlns:a16="http://schemas.microsoft.com/office/drawing/2014/main" id="{2B2C59BA-0C8C-47A6-AEE5-1785F694C1CE}"/>
              </a:ext>
            </a:extLst>
          </p:cNvPr>
          <p:cNvSpPr txBox="1"/>
          <p:nvPr/>
        </p:nvSpPr>
        <p:spPr>
          <a:xfrm>
            <a:off x="5153905" y="543838"/>
            <a:ext cx="3535759" cy="3139321"/>
          </a:xfrm>
          <a:prstGeom prst="rect">
            <a:avLst/>
          </a:prstGeom>
          <a:noFill/>
        </p:spPr>
        <p:txBody>
          <a:bodyPr wrap="square" rtlCol="0">
            <a:spAutoFit/>
          </a:bodyPr>
          <a:lstStyle/>
          <a:p>
            <a:pPr marL="0" indent="0">
              <a:buNone/>
            </a:pPr>
            <a:r>
              <a:rPr lang="en-US" sz="1800" dirty="0">
                <a:solidFill>
                  <a:srgbClr val="A188FC"/>
                </a:solidFill>
                <a:latin typeface="Calibri" pitchFamily="34" charset="0"/>
                <a:ea typeface="Calibri" pitchFamily="34" charset="-122"/>
                <a:cs typeface="Calibri" pitchFamily="34" charset="-120"/>
              </a:rPr>
              <a:t>Our CSV has many columns but we only need two — Rating and </a:t>
            </a:r>
            <a:r>
              <a:rPr lang="en-US" sz="1800" dirty="0" err="1">
                <a:solidFill>
                  <a:srgbClr val="A188FC"/>
                </a:solidFill>
                <a:latin typeface="Calibri" pitchFamily="34" charset="0"/>
                <a:ea typeface="Calibri" pitchFamily="34" charset="-122"/>
                <a:cs typeface="Calibri" pitchFamily="34" charset="-120"/>
              </a:rPr>
              <a:t>avg_salary</a:t>
            </a:r>
            <a:r>
              <a:rPr lang="en-US" sz="1800" dirty="0">
                <a:solidFill>
                  <a:srgbClr val="A188FC"/>
                </a:solidFill>
                <a:latin typeface="Calibri" pitchFamily="34" charset="0"/>
                <a:ea typeface="Calibri" pitchFamily="34" charset="-122"/>
                <a:cs typeface="Calibri" pitchFamily="34" charset="-120"/>
              </a:rPr>
              <a:t>. The </a:t>
            </a:r>
            <a:r>
              <a:rPr lang="en-US" sz="1800" dirty="0" err="1">
                <a:solidFill>
                  <a:srgbClr val="A188FC"/>
                </a:solidFill>
                <a:latin typeface="Calibri" pitchFamily="34" charset="0"/>
                <a:ea typeface="Calibri" pitchFamily="34" charset="-122"/>
                <a:cs typeface="Calibri" pitchFamily="34" charset="-120"/>
              </a:rPr>
              <a:t>dropna</a:t>
            </a:r>
            <a:r>
              <a:rPr lang="en-US" sz="1800" dirty="0">
                <a:solidFill>
                  <a:srgbClr val="A188FC"/>
                </a:solidFill>
                <a:latin typeface="Calibri" pitchFamily="34" charset="0"/>
                <a:ea typeface="Calibri" pitchFamily="34" charset="-122"/>
                <a:cs typeface="Calibri" pitchFamily="34" charset="-120"/>
              </a:rPr>
              <a:t>() call removes any rows where either of those values is missing. If we skip this step, the model might crash or give bad results.</a:t>
            </a:r>
            <a:endParaRPr lang="en-US" sz="1800" dirty="0">
              <a:solidFill>
                <a:srgbClr val="A188FC"/>
              </a:solidFill>
            </a:endParaRPr>
          </a:p>
          <a:p>
            <a:pPr marL="0" indent="0">
              <a:buNone/>
            </a:pPr>
            <a:endParaRPr lang="en-US" sz="1800" dirty="0">
              <a:solidFill>
                <a:srgbClr val="A188FC"/>
              </a:solidFill>
            </a:endParaRPr>
          </a:p>
          <a:p>
            <a:pPr marL="0" indent="0">
              <a:buNone/>
            </a:pPr>
            <a:r>
              <a:rPr lang="en-US" sz="1800" dirty="0">
                <a:solidFill>
                  <a:srgbClr val="A188FC"/>
                </a:solidFill>
                <a:latin typeface="Calibri" pitchFamily="34" charset="0"/>
                <a:ea typeface="Calibri" pitchFamily="34" charset="-122"/>
                <a:cs typeface="Calibri" pitchFamily="34" charset="-120"/>
              </a:rPr>
              <a:t>After this, </a:t>
            </a:r>
            <a:r>
              <a:rPr lang="en-US" sz="1800" dirty="0" err="1">
                <a:solidFill>
                  <a:srgbClr val="A188FC"/>
                </a:solidFill>
                <a:latin typeface="Calibri" pitchFamily="34" charset="0"/>
                <a:ea typeface="Calibri" pitchFamily="34" charset="-122"/>
                <a:cs typeface="Calibri" pitchFamily="34" charset="-120"/>
              </a:rPr>
              <a:t>data.head</a:t>
            </a:r>
            <a:r>
              <a:rPr lang="en-US" sz="1800" dirty="0">
                <a:solidFill>
                  <a:srgbClr val="A188FC"/>
                </a:solidFill>
                <a:latin typeface="Calibri" pitchFamily="34" charset="0"/>
                <a:ea typeface="Calibri" pitchFamily="34" charset="-122"/>
                <a:cs typeface="Calibri" pitchFamily="34" charset="-120"/>
              </a:rPr>
              <a:t>() shows us the clean version.</a:t>
            </a:r>
            <a:endParaRPr lang="en-US" sz="1800" dirty="0">
              <a:solidFill>
                <a:srgbClr val="A188FC"/>
              </a:solidFill>
            </a:endParaRPr>
          </a:p>
          <a:p>
            <a:endParaRPr lang="en-IN" dirty="0"/>
          </a:p>
        </p:txBody>
      </p:sp>
    </p:spTree>
    <p:extLst>
      <p:ext uri="{BB962C8B-B14F-4D97-AF65-F5344CB8AC3E}">
        <p14:creationId xmlns:p14="http://schemas.microsoft.com/office/powerpoint/2010/main" val="1512523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AB5ABE">
            <a:alpha val="29000"/>
          </a:srgbClr>
        </a:solidFill>
        <a:effectLst/>
      </p:bgPr>
    </p:bg>
    <p:spTree>
      <p:nvGrpSpPr>
        <p:cNvPr id="1" name=""/>
        <p:cNvGrpSpPr/>
        <p:nvPr/>
      </p:nvGrpSpPr>
      <p:grpSpPr>
        <a:xfrm>
          <a:off x="0" y="0"/>
          <a:ext cx="0" cy="0"/>
          <a:chOff x="0" y="0"/>
          <a:chExt cx="0" cy="0"/>
        </a:xfrm>
      </p:grpSpPr>
      <p:sp>
        <p:nvSpPr>
          <p:cNvPr id="3" name="Shape 1"/>
          <p:cNvSpPr/>
          <p:nvPr/>
        </p:nvSpPr>
        <p:spPr>
          <a:xfrm>
            <a:off x="457200" y="903878"/>
            <a:ext cx="8229600" cy="640080"/>
          </a:xfrm>
          <a:prstGeom prst="rect">
            <a:avLst/>
          </a:prstGeom>
          <a:solidFill>
            <a:srgbClr val="1F2937"/>
          </a:solidFill>
          <a:ln w="12700">
            <a:solidFill>
              <a:srgbClr val="374151"/>
            </a:solidFill>
            <a:prstDash val="solid"/>
          </a:ln>
        </p:spPr>
      </p:sp>
      <p:sp>
        <p:nvSpPr>
          <p:cNvPr id="4" name="Text 2"/>
          <p:cNvSpPr/>
          <p:nvPr/>
        </p:nvSpPr>
        <p:spPr>
          <a:xfrm>
            <a:off x="594360" y="998451"/>
            <a:ext cx="7955280" cy="512064"/>
          </a:xfrm>
          <a:prstGeom prst="rect">
            <a:avLst/>
          </a:prstGeom>
          <a:noFill/>
          <a:ln/>
        </p:spPr>
        <p:txBody>
          <a:bodyPr wrap="square" lIns="0" tIns="0" rIns="0" bIns="0" rtlCol="0" anchor="t"/>
          <a:lstStyle/>
          <a:p>
            <a:r>
              <a:rPr lang="en-IN" sz="1100" b="0" dirty="0">
                <a:solidFill>
                  <a:srgbClr val="6688CC"/>
                </a:solidFill>
                <a:effectLst/>
                <a:latin typeface="Consolas" panose="020B0609020204030204" pitchFamily="49" charset="0"/>
              </a:rPr>
              <a:t>X </a:t>
            </a:r>
            <a:r>
              <a:rPr lang="en-IN" sz="1100" b="0" dirty="0">
                <a:solidFill>
                  <a:srgbClr val="225588"/>
                </a:solidFill>
                <a:effectLst/>
                <a:latin typeface="Consolas" panose="020B0609020204030204" pitchFamily="49" charset="0"/>
              </a:rPr>
              <a:t>=</a:t>
            </a:r>
            <a:r>
              <a:rPr lang="en-IN" sz="1100" b="0" dirty="0">
                <a:solidFill>
                  <a:srgbClr val="6688CC"/>
                </a:solidFill>
                <a:effectLst/>
                <a:latin typeface="Consolas" panose="020B0609020204030204" pitchFamily="49" charset="0"/>
              </a:rPr>
              <a:t> data[[</a:t>
            </a:r>
            <a:r>
              <a:rPr lang="en-IN" sz="1100" b="0" dirty="0">
                <a:solidFill>
                  <a:srgbClr val="22AA44"/>
                </a:solidFill>
                <a:effectLst/>
                <a:latin typeface="Consolas" panose="020B0609020204030204" pitchFamily="49" charset="0"/>
              </a:rPr>
              <a:t>'Rating'</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'age'</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'python_</a:t>
            </a:r>
            <a:r>
              <a:rPr lang="en-IN" sz="1100" b="0" dirty="0" err="1">
                <a:solidFill>
                  <a:srgbClr val="22AA44"/>
                </a:solidFill>
                <a:effectLst/>
                <a:latin typeface="Consolas" panose="020B0609020204030204" pitchFamily="49" charset="0"/>
              </a:rPr>
              <a:t>yn</a:t>
            </a:r>
            <a:r>
              <a:rPr lang="en-IN" sz="1100" b="0" dirty="0">
                <a:solidFill>
                  <a:srgbClr val="22AA44"/>
                </a:solidFill>
                <a:effectLst/>
                <a:latin typeface="Consolas" panose="020B0609020204030204" pitchFamily="49" charset="0"/>
              </a:rPr>
              <a:t>'</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a:t>
            </a:r>
            <a:r>
              <a:rPr lang="en-IN" sz="1100" b="0" dirty="0" err="1">
                <a:solidFill>
                  <a:srgbClr val="22AA44"/>
                </a:solidFill>
                <a:effectLst/>
                <a:latin typeface="Consolas" panose="020B0609020204030204" pitchFamily="49" charset="0"/>
              </a:rPr>
              <a:t>aws</a:t>
            </a:r>
            <a:r>
              <a:rPr lang="en-IN" sz="1100" b="0" dirty="0">
                <a:solidFill>
                  <a:srgbClr val="22AA44"/>
                </a:solidFill>
                <a:effectLst/>
                <a:latin typeface="Consolas" panose="020B0609020204030204" pitchFamily="49" charset="0"/>
              </a:rPr>
              <a:t>'</a:t>
            </a:r>
            <a:r>
              <a:rPr lang="en-IN" sz="1100" b="0" dirty="0">
                <a:solidFill>
                  <a:srgbClr val="6688CC"/>
                </a:solidFill>
                <a:effectLst/>
                <a:latin typeface="Consolas" panose="020B0609020204030204" pitchFamily="49" charset="0"/>
              </a:rPr>
              <a:t>,</a:t>
            </a:r>
            <a:r>
              <a:rPr lang="en-IN" sz="1100" b="0" dirty="0">
                <a:solidFill>
                  <a:srgbClr val="22AA44"/>
                </a:solidFill>
                <a:effectLst/>
                <a:latin typeface="Consolas" panose="020B0609020204030204" pitchFamily="49" charset="0"/>
              </a:rPr>
              <a:t>'excel’</a:t>
            </a:r>
            <a:r>
              <a:rPr lang="en-IN" sz="1100" b="0" dirty="0">
                <a:solidFill>
                  <a:srgbClr val="6688CC"/>
                </a:solidFill>
                <a:effectLst/>
                <a:latin typeface="Consolas" panose="020B0609020204030204" pitchFamily="49" charset="0"/>
              </a:rPr>
              <a:t>]] </a:t>
            </a:r>
            <a:r>
              <a:rPr lang="en-US" sz="1100" dirty="0">
                <a:solidFill>
                  <a:srgbClr val="86EFAC"/>
                </a:solidFill>
                <a:latin typeface="Consolas" pitchFamily="34" charset="0"/>
                <a:ea typeface="Consolas" pitchFamily="34" charset="-122"/>
                <a:cs typeface="Consolas" pitchFamily="34" charset="-120"/>
              </a:rPr>
              <a:t># Independent variable — the input</a:t>
            </a:r>
            <a:endParaRPr lang="en-US" sz="1100" dirty="0"/>
          </a:p>
          <a:p>
            <a:r>
              <a:rPr lang="en-IN" sz="1100" b="0" dirty="0">
                <a:solidFill>
                  <a:srgbClr val="6688CC"/>
                </a:solidFill>
                <a:effectLst/>
                <a:latin typeface="Consolas" panose="020B0609020204030204" pitchFamily="49" charset="0"/>
              </a:rPr>
              <a:t>y </a:t>
            </a:r>
            <a:r>
              <a:rPr lang="en-IN" sz="1100" b="0" dirty="0">
                <a:solidFill>
                  <a:srgbClr val="225588"/>
                </a:solidFill>
                <a:effectLst/>
                <a:latin typeface="Consolas" panose="020B0609020204030204" pitchFamily="49" charset="0"/>
              </a:rPr>
              <a:t>=</a:t>
            </a:r>
            <a:r>
              <a:rPr lang="en-IN" sz="1100" b="0" dirty="0">
                <a:solidFill>
                  <a:srgbClr val="6688CC"/>
                </a:solidFill>
                <a:effectLst/>
                <a:latin typeface="Consolas" panose="020B0609020204030204" pitchFamily="49" charset="0"/>
              </a:rPr>
              <a:t> data[</a:t>
            </a:r>
            <a:r>
              <a:rPr lang="en-IN" sz="1100" b="0" dirty="0">
                <a:solidFill>
                  <a:srgbClr val="22AA44"/>
                </a:solidFill>
                <a:effectLst/>
                <a:latin typeface="Consolas" panose="020B0609020204030204" pitchFamily="49" charset="0"/>
              </a:rPr>
              <a:t>'</a:t>
            </a:r>
            <a:r>
              <a:rPr lang="en-IN" sz="1100" b="0" dirty="0" err="1">
                <a:solidFill>
                  <a:srgbClr val="22AA44"/>
                </a:solidFill>
                <a:effectLst/>
                <a:latin typeface="Consolas" panose="020B0609020204030204" pitchFamily="49" charset="0"/>
              </a:rPr>
              <a:t>avg_salary</a:t>
            </a:r>
            <a:r>
              <a:rPr lang="en-IN" sz="1100" b="0" dirty="0">
                <a:solidFill>
                  <a:srgbClr val="22AA44"/>
                </a:solidFill>
                <a:effectLst/>
                <a:latin typeface="Consolas" panose="020B0609020204030204" pitchFamily="49" charset="0"/>
              </a:rPr>
              <a:t>’</a:t>
            </a:r>
            <a:r>
              <a:rPr lang="en-IN" sz="1100" b="0" dirty="0">
                <a:solidFill>
                  <a:srgbClr val="6688CC"/>
                </a:solidFill>
                <a:effectLst/>
                <a:latin typeface="Consolas" panose="020B0609020204030204" pitchFamily="49" charset="0"/>
              </a:rPr>
              <a:t>] </a:t>
            </a:r>
            <a:r>
              <a:rPr lang="en-US" sz="1100" dirty="0">
                <a:solidFill>
                  <a:srgbClr val="86EFAC"/>
                </a:solidFill>
                <a:latin typeface="Consolas" pitchFamily="34" charset="0"/>
                <a:ea typeface="Consolas" pitchFamily="34" charset="-122"/>
                <a:cs typeface="Consolas" pitchFamily="34" charset="-120"/>
              </a:rPr>
              <a:t># Dependent variable — the output</a:t>
            </a:r>
            <a:endParaRPr lang="en-IN" sz="1100" b="0" dirty="0">
              <a:solidFill>
                <a:srgbClr val="6688CC"/>
              </a:solidFill>
              <a:effectLst/>
              <a:latin typeface="Consolas" panose="020B0609020204030204" pitchFamily="49" charset="0"/>
            </a:endParaRPr>
          </a:p>
          <a:p>
            <a:pPr marL="0" indent="0">
              <a:buNone/>
            </a:pPr>
            <a:r>
              <a:rPr lang="en-US" sz="1100" dirty="0">
                <a:solidFill>
                  <a:srgbClr val="86EFAC"/>
                </a:solidFill>
                <a:latin typeface="Consolas" pitchFamily="34" charset="0"/>
                <a:ea typeface="Consolas" pitchFamily="34" charset="-122"/>
                <a:cs typeface="Consolas" pitchFamily="34" charset="-120"/>
              </a:rPr>
              <a:t>  </a:t>
            </a:r>
            <a:endParaRPr lang="en-US" sz="1100" dirty="0"/>
          </a:p>
        </p:txBody>
      </p:sp>
      <p:sp>
        <p:nvSpPr>
          <p:cNvPr id="5" name="Text 3"/>
          <p:cNvSpPr/>
          <p:nvPr/>
        </p:nvSpPr>
        <p:spPr>
          <a:xfrm>
            <a:off x="457200" y="1625842"/>
            <a:ext cx="8229600" cy="59436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X is the input we give to the model — the company rating. y is the answer we want the model to learn to predict — the average salary. We use double brackets for X so it stays as a 2D table, which is what sklearn requires.</a:t>
            </a:r>
            <a:endParaRPr lang="en-US" sz="1300" dirty="0"/>
          </a:p>
        </p:txBody>
      </p:sp>
      <p:sp>
        <p:nvSpPr>
          <p:cNvPr id="6" name="Shape 4"/>
          <p:cNvSpPr/>
          <p:nvPr/>
        </p:nvSpPr>
        <p:spPr>
          <a:xfrm>
            <a:off x="457200" y="2284723"/>
            <a:ext cx="8229600" cy="27432"/>
          </a:xfrm>
          <a:prstGeom prst="rect">
            <a:avLst/>
          </a:prstGeom>
          <a:solidFill>
            <a:srgbClr val="FECDD3"/>
          </a:solidFill>
          <a:ln w="12700">
            <a:solidFill>
              <a:srgbClr val="FECDD3"/>
            </a:solidFill>
            <a:prstDash val="solid"/>
          </a:ln>
        </p:spPr>
      </p:sp>
      <p:sp>
        <p:nvSpPr>
          <p:cNvPr id="7" name="Text 5"/>
          <p:cNvSpPr/>
          <p:nvPr/>
        </p:nvSpPr>
        <p:spPr>
          <a:xfrm>
            <a:off x="457200" y="2441198"/>
            <a:ext cx="8229600" cy="411480"/>
          </a:xfrm>
          <a:prstGeom prst="rect">
            <a:avLst/>
          </a:prstGeom>
          <a:noFill/>
          <a:ln/>
        </p:spPr>
        <p:txBody>
          <a:bodyPr wrap="square" lIns="0" tIns="0" rIns="0" bIns="0" rtlCol="0" anchor="ctr"/>
          <a:lstStyle/>
          <a:p>
            <a:pPr marL="0" indent="0">
              <a:buNone/>
            </a:pPr>
            <a:endParaRPr lang="en-US" sz="2200" dirty="0"/>
          </a:p>
        </p:txBody>
      </p:sp>
      <p:sp>
        <p:nvSpPr>
          <p:cNvPr id="8" name="Shape 6"/>
          <p:cNvSpPr/>
          <p:nvPr/>
        </p:nvSpPr>
        <p:spPr>
          <a:xfrm>
            <a:off x="457200" y="3083333"/>
            <a:ext cx="8229600" cy="566928"/>
          </a:xfrm>
          <a:prstGeom prst="rect">
            <a:avLst/>
          </a:prstGeom>
          <a:solidFill>
            <a:srgbClr val="1F2937"/>
          </a:solidFill>
          <a:ln w="12700">
            <a:solidFill>
              <a:srgbClr val="374151"/>
            </a:solidFill>
            <a:prstDash val="solid"/>
          </a:ln>
        </p:spPr>
        <p:txBody>
          <a:bodyPr/>
          <a:lstStyle/>
          <a:p>
            <a:endParaRPr lang="en-IN" dirty="0"/>
          </a:p>
        </p:txBody>
      </p:sp>
      <p:sp>
        <p:nvSpPr>
          <p:cNvPr id="9" name="Text 7"/>
          <p:cNvSpPr/>
          <p:nvPr/>
        </p:nvSpPr>
        <p:spPr>
          <a:xfrm>
            <a:off x="594360" y="3209544"/>
            <a:ext cx="7955280" cy="438912"/>
          </a:xfrm>
          <a:prstGeom prst="rect">
            <a:avLst/>
          </a:prstGeom>
          <a:noFill/>
          <a:ln/>
        </p:spPr>
        <p:txBody>
          <a:bodyPr wrap="square" lIns="0" tIns="0" rIns="0" bIns="0" rtlCol="0" anchor="t"/>
          <a:lstStyle/>
          <a:p>
            <a:r>
              <a:rPr lang="en-GB" sz="1100" b="0" dirty="0" err="1">
                <a:solidFill>
                  <a:srgbClr val="6688CC"/>
                </a:solidFill>
                <a:effectLst/>
                <a:latin typeface="Consolas" panose="020B0609020204030204" pitchFamily="49" charset="0"/>
              </a:rPr>
              <a:t>X_train</a:t>
            </a:r>
            <a:r>
              <a:rPr lang="en-GB" sz="1100" b="0" dirty="0">
                <a:solidFill>
                  <a:srgbClr val="6688CC"/>
                </a:solidFill>
                <a:effectLst/>
                <a:latin typeface="Consolas" panose="020B0609020204030204" pitchFamily="49" charset="0"/>
              </a:rPr>
              <a:t>, </a:t>
            </a:r>
            <a:r>
              <a:rPr lang="en-GB" sz="1100" b="0" dirty="0" err="1">
                <a:solidFill>
                  <a:srgbClr val="6688CC"/>
                </a:solidFill>
                <a:effectLst/>
                <a:latin typeface="Consolas" panose="020B0609020204030204" pitchFamily="49" charset="0"/>
              </a:rPr>
              <a:t>X_test</a:t>
            </a:r>
            <a:r>
              <a:rPr lang="en-GB" sz="1100" b="0" dirty="0">
                <a:solidFill>
                  <a:srgbClr val="6688CC"/>
                </a:solidFill>
                <a:effectLst/>
                <a:latin typeface="Consolas" panose="020B0609020204030204" pitchFamily="49" charset="0"/>
              </a:rPr>
              <a:t>, </a:t>
            </a:r>
            <a:r>
              <a:rPr lang="en-GB" sz="1100" b="0" dirty="0" err="1">
                <a:solidFill>
                  <a:srgbClr val="6688CC"/>
                </a:solidFill>
                <a:effectLst/>
                <a:latin typeface="Consolas" panose="020B0609020204030204" pitchFamily="49" charset="0"/>
              </a:rPr>
              <a:t>y_train</a:t>
            </a:r>
            <a:r>
              <a:rPr lang="en-GB" sz="1100" b="0" dirty="0">
                <a:solidFill>
                  <a:srgbClr val="6688CC"/>
                </a:solidFill>
                <a:effectLst/>
                <a:latin typeface="Consolas" panose="020B0609020204030204" pitchFamily="49" charset="0"/>
              </a:rPr>
              <a:t>, </a:t>
            </a:r>
            <a:r>
              <a:rPr lang="en-GB" sz="1100" b="0" dirty="0" err="1">
                <a:solidFill>
                  <a:srgbClr val="6688CC"/>
                </a:solidFill>
                <a:effectLst/>
                <a:latin typeface="Consolas" panose="020B0609020204030204" pitchFamily="49" charset="0"/>
              </a:rPr>
              <a:t>y_test</a:t>
            </a:r>
            <a:r>
              <a:rPr lang="en-GB" sz="1100" b="0" dirty="0">
                <a:solidFill>
                  <a:srgbClr val="6688CC"/>
                </a:solidFill>
                <a:effectLst/>
                <a:latin typeface="Consolas" panose="020B0609020204030204" pitchFamily="49" charset="0"/>
              </a:rPr>
              <a:t> </a:t>
            </a:r>
            <a:r>
              <a:rPr lang="en-GB" sz="1100" b="0" dirty="0">
                <a:solidFill>
                  <a:srgbClr val="225588"/>
                </a:solidFill>
                <a:effectLst/>
                <a:latin typeface="Consolas" panose="020B0609020204030204" pitchFamily="49" charset="0"/>
              </a:rPr>
              <a:t>=</a:t>
            </a:r>
            <a:r>
              <a:rPr lang="en-GB" sz="1100" b="0" dirty="0">
                <a:solidFill>
                  <a:srgbClr val="6688CC"/>
                </a:solidFill>
                <a:effectLst/>
                <a:latin typeface="Consolas" panose="020B0609020204030204" pitchFamily="49" charset="0"/>
              </a:rPr>
              <a:t> </a:t>
            </a:r>
            <a:r>
              <a:rPr lang="en-GB" sz="1100" b="0" dirty="0" err="1">
                <a:solidFill>
                  <a:srgbClr val="DDBB88"/>
                </a:solidFill>
                <a:effectLst/>
                <a:latin typeface="Consolas" panose="020B0609020204030204" pitchFamily="49" charset="0"/>
              </a:rPr>
              <a:t>train_test_split</a:t>
            </a:r>
            <a:r>
              <a:rPr lang="en-GB" sz="1100" b="0" dirty="0">
                <a:solidFill>
                  <a:srgbClr val="6688CC"/>
                </a:solidFill>
                <a:effectLst/>
                <a:latin typeface="Consolas" panose="020B0609020204030204" pitchFamily="49" charset="0"/>
              </a:rPr>
              <a:t>(</a:t>
            </a:r>
          </a:p>
          <a:p>
            <a:r>
              <a:rPr lang="en-GB" sz="1100" b="0" dirty="0">
                <a:solidFill>
                  <a:srgbClr val="6688CC"/>
                </a:solidFill>
                <a:effectLst/>
                <a:latin typeface="Consolas" panose="020B0609020204030204" pitchFamily="49" charset="0"/>
              </a:rPr>
              <a:t>    X, y, </a:t>
            </a:r>
            <a:r>
              <a:rPr lang="en-GB" sz="1100" b="0" i="1" dirty="0" err="1">
                <a:solidFill>
                  <a:srgbClr val="2277FF"/>
                </a:solidFill>
                <a:effectLst/>
                <a:latin typeface="Consolas" panose="020B0609020204030204" pitchFamily="49" charset="0"/>
              </a:rPr>
              <a:t>test_size</a:t>
            </a:r>
            <a:r>
              <a:rPr lang="en-GB" sz="1100" b="0" dirty="0">
                <a:solidFill>
                  <a:srgbClr val="225588"/>
                </a:solidFill>
                <a:effectLst/>
                <a:latin typeface="Consolas" panose="020B0609020204030204" pitchFamily="49" charset="0"/>
              </a:rPr>
              <a:t>=</a:t>
            </a:r>
            <a:r>
              <a:rPr lang="en-GB" sz="1100" b="0" dirty="0">
                <a:solidFill>
                  <a:srgbClr val="F280D0"/>
                </a:solidFill>
                <a:effectLst/>
                <a:latin typeface="Consolas" panose="020B0609020204030204" pitchFamily="49" charset="0"/>
              </a:rPr>
              <a:t>0.2</a:t>
            </a:r>
            <a:r>
              <a:rPr lang="en-GB" sz="1100" b="0" dirty="0">
                <a:solidFill>
                  <a:srgbClr val="6688CC"/>
                </a:solidFill>
                <a:effectLst/>
                <a:latin typeface="Consolas" panose="020B0609020204030204" pitchFamily="49" charset="0"/>
              </a:rPr>
              <a:t>, </a:t>
            </a:r>
            <a:r>
              <a:rPr lang="en-GB" sz="1100" b="0" i="1" dirty="0" err="1">
                <a:solidFill>
                  <a:srgbClr val="2277FF"/>
                </a:solidFill>
                <a:effectLst/>
                <a:latin typeface="Consolas" panose="020B0609020204030204" pitchFamily="49" charset="0"/>
              </a:rPr>
              <a:t>random_state</a:t>
            </a:r>
            <a:r>
              <a:rPr lang="en-GB" sz="1100" b="0" dirty="0">
                <a:solidFill>
                  <a:srgbClr val="225588"/>
                </a:solidFill>
                <a:effectLst/>
                <a:latin typeface="Consolas" panose="020B0609020204030204" pitchFamily="49" charset="0"/>
              </a:rPr>
              <a:t>=</a:t>
            </a:r>
            <a:r>
              <a:rPr lang="en-GB" sz="1100" b="0" dirty="0">
                <a:solidFill>
                  <a:srgbClr val="F280D0"/>
                </a:solidFill>
                <a:effectLst/>
                <a:latin typeface="Consolas" panose="020B0609020204030204" pitchFamily="49" charset="0"/>
              </a:rPr>
              <a:t>42</a:t>
            </a:r>
            <a:r>
              <a:rPr lang="en-GB" sz="1100" b="0" dirty="0">
                <a:solidFill>
                  <a:srgbClr val="6688CC"/>
                </a:solidFill>
                <a:effectLst/>
                <a:latin typeface="Consolas" panose="020B0609020204030204" pitchFamily="49" charset="0"/>
              </a:rPr>
              <a:t>)</a:t>
            </a:r>
          </a:p>
          <a:p>
            <a:pPr marL="0" indent="0">
              <a:buNone/>
            </a:pPr>
            <a:endParaRPr lang="en-US" sz="1100" dirty="0"/>
          </a:p>
        </p:txBody>
      </p:sp>
      <p:sp>
        <p:nvSpPr>
          <p:cNvPr id="10" name="Text 8"/>
          <p:cNvSpPr/>
          <p:nvPr/>
        </p:nvSpPr>
        <p:spPr>
          <a:xfrm>
            <a:off x="457200" y="3725373"/>
            <a:ext cx="8229600" cy="841248"/>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We split our 200 rows into two parts. 80% goes into training — the model learns from this. The remaining 20% is set aside for testing — we'll use it later to check if the model actually learned correctly. The random_state=42 just means we get the same split every time we run the code, so our results are consistent.</a:t>
            </a:r>
            <a:endParaRPr lang="en-US" sz="1300" dirty="0"/>
          </a:p>
        </p:txBody>
      </p:sp>
      <p:sp>
        <p:nvSpPr>
          <p:cNvPr id="11" name="Shape 1">
            <a:extLst>
              <a:ext uri="{FF2B5EF4-FFF2-40B4-BE49-F238E27FC236}">
                <a16:creationId xmlns:a16="http://schemas.microsoft.com/office/drawing/2014/main" id="{623D9565-CC20-46C3-834C-098F554C8213}"/>
              </a:ext>
            </a:extLst>
          </p:cNvPr>
          <p:cNvSpPr/>
          <p:nvPr/>
        </p:nvSpPr>
        <p:spPr>
          <a:xfrm>
            <a:off x="457200" y="192139"/>
            <a:ext cx="3621485" cy="481084"/>
          </a:xfrm>
          <a:prstGeom prst="rect">
            <a:avLst/>
          </a:prstGeom>
          <a:solidFill>
            <a:srgbClr val="B774F4"/>
          </a:solidFill>
          <a:ln w="12700">
            <a:solidFill>
              <a:srgbClr val="EC4899"/>
            </a:solidFill>
            <a:prstDash val="solid"/>
          </a:ln>
        </p:spPr>
      </p:sp>
      <p:sp>
        <p:nvSpPr>
          <p:cNvPr id="12" name="TextBox 11">
            <a:extLst>
              <a:ext uri="{FF2B5EF4-FFF2-40B4-BE49-F238E27FC236}">
                <a16:creationId xmlns:a16="http://schemas.microsoft.com/office/drawing/2014/main" id="{B9423EE5-05E3-4D4B-97C7-829161153590}"/>
              </a:ext>
            </a:extLst>
          </p:cNvPr>
          <p:cNvSpPr txBox="1"/>
          <p:nvPr/>
        </p:nvSpPr>
        <p:spPr>
          <a:xfrm>
            <a:off x="594360" y="200603"/>
            <a:ext cx="2961067" cy="677108"/>
          </a:xfrm>
          <a:prstGeom prst="rect">
            <a:avLst/>
          </a:prstGeom>
          <a:noFill/>
        </p:spPr>
        <p:txBody>
          <a:bodyPr wrap="none" rtlCol="0">
            <a:spAutoFit/>
          </a:bodyPr>
          <a:lstStyle/>
          <a:p>
            <a:r>
              <a:rPr lang="en-US" sz="2000" b="1" dirty="0">
                <a:solidFill>
                  <a:srgbClr val="881337"/>
                </a:solidFill>
                <a:latin typeface="Calibri" pitchFamily="34" charset="0"/>
                <a:ea typeface="Calibri" pitchFamily="34" charset="-122"/>
                <a:cs typeface="Calibri" pitchFamily="34" charset="-120"/>
              </a:rPr>
              <a:t>Cell 4  —  Defining X and y</a:t>
            </a:r>
            <a:endParaRPr lang="en-US" sz="2000" dirty="0"/>
          </a:p>
          <a:p>
            <a:endParaRPr lang="en-IN" dirty="0"/>
          </a:p>
        </p:txBody>
      </p:sp>
      <p:sp>
        <p:nvSpPr>
          <p:cNvPr id="13" name="Shape 1">
            <a:extLst>
              <a:ext uri="{FF2B5EF4-FFF2-40B4-BE49-F238E27FC236}">
                <a16:creationId xmlns:a16="http://schemas.microsoft.com/office/drawing/2014/main" id="{A771AC04-6ED3-42A0-B221-921E5F994247}"/>
              </a:ext>
            </a:extLst>
          </p:cNvPr>
          <p:cNvSpPr/>
          <p:nvPr/>
        </p:nvSpPr>
        <p:spPr>
          <a:xfrm>
            <a:off x="457200" y="2450857"/>
            <a:ext cx="3621485" cy="481084"/>
          </a:xfrm>
          <a:prstGeom prst="rect">
            <a:avLst/>
          </a:prstGeom>
          <a:solidFill>
            <a:srgbClr val="B774F4"/>
          </a:solidFill>
          <a:ln w="12700">
            <a:solidFill>
              <a:srgbClr val="EC4899"/>
            </a:solidFill>
            <a:prstDash val="solid"/>
          </a:ln>
        </p:spPr>
      </p:sp>
      <p:sp>
        <p:nvSpPr>
          <p:cNvPr id="14" name="TextBox 13">
            <a:extLst>
              <a:ext uri="{FF2B5EF4-FFF2-40B4-BE49-F238E27FC236}">
                <a16:creationId xmlns:a16="http://schemas.microsoft.com/office/drawing/2014/main" id="{124F783D-A682-49CF-9C7D-FBCA7A0D7066}"/>
              </a:ext>
            </a:extLst>
          </p:cNvPr>
          <p:cNvSpPr txBox="1"/>
          <p:nvPr/>
        </p:nvSpPr>
        <p:spPr>
          <a:xfrm>
            <a:off x="457200" y="2486283"/>
            <a:ext cx="3076611" cy="677108"/>
          </a:xfrm>
          <a:prstGeom prst="rect">
            <a:avLst/>
          </a:prstGeom>
          <a:noFill/>
        </p:spPr>
        <p:txBody>
          <a:bodyPr wrap="none" rtlCol="0">
            <a:spAutoFit/>
          </a:bodyPr>
          <a:lstStyle/>
          <a:p>
            <a:r>
              <a:rPr lang="en-US" sz="2000" b="1" dirty="0">
                <a:solidFill>
                  <a:srgbClr val="881337"/>
                </a:solidFill>
                <a:latin typeface="Calibri" pitchFamily="34" charset="0"/>
                <a:ea typeface="Calibri" pitchFamily="34" charset="-122"/>
                <a:cs typeface="Calibri" pitchFamily="34" charset="-120"/>
              </a:rPr>
              <a:t>Cell 5  —  Splitting the Data</a:t>
            </a:r>
            <a:endParaRPr lang="en-US" sz="2000"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chemeClr val="accent2">
            <a:lumMod val="40000"/>
            <a:lumOff val="60000"/>
            <a:alpha val="38000"/>
          </a:schemeClr>
        </a:solidFill>
        <a:effectLst/>
      </p:bgPr>
    </p:bg>
    <p:spTree>
      <p:nvGrpSpPr>
        <p:cNvPr id="1" name=""/>
        <p:cNvGrpSpPr/>
        <p:nvPr/>
      </p:nvGrpSpPr>
      <p:grpSpPr>
        <a:xfrm>
          <a:off x="0" y="0"/>
          <a:ext cx="0" cy="0"/>
          <a:chOff x="0" y="0"/>
          <a:chExt cx="0" cy="0"/>
        </a:xfrm>
      </p:grpSpPr>
      <p:sp>
        <p:nvSpPr>
          <p:cNvPr id="3" name="Shape 1"/>
          <p:cNvSpPr/>
          <p:nvPr/>
        </p:nvSpPr>
        <p:spPr>
          <a:xfrm>
            <a:off x="457200" y="868680"/>
            <a:ext cx="4114800" cy="566928"/>
          </a:xfrm>
          <a:prstGeom prst="rect">
            <a:avLst/>
          </a:prstGeom>
          <a:solidFill>
            <a:srgbClr val="1F2937"/>
          </a:solidFill>
          <a:ln w="12700">
            <a:solidFill>
              <a:srgbClr val="374151"/>
            </a:solidFill>
            <a:prstDash val="solid"/>
          </a:ln>
        </p:spPr>
      </p:sp>
      <p:sp>
        <p:nvSpPr>
          <p:cNvPr id="4" name="Text 2"/>
          <p:cNvSpPr/>
          <p:nvPr/>
        </p:nvSpPr>
        <p:spPr>
          <a:xfrm>
            <a:off x="594360" y="941832"/>
            <a:ext cx="3840480" cy="438912"/>
          </a:xfrm>
          <a:prstGeom prst="rect">
            <a:avLst/>
          </a:prstGeom>
          <a:noFill/>
          <a:ln/>
        </p:spPr>
        <p:txBody>
          <a:bodyPr wrap="square" lIns="0" tIns="0" rIns="0" bIns="0" rtlCol="0" anchor="t"/>
          <a:lstStyle/>
          <a:p>
            <a:r>
              <a:rPr lang="fr-FR" sz="1200" b="0" dirty="0">
                <a:solidFill>
                  <a:srgbClr val="6688CC"/>
                </a:solidFill>
                <a:effectLst/>
                <a:latin typeface="Consolas" panose="020B0609020204030204" pitchFamily="49" charset="0"/>
              </a:rPr>
              <a:t>model </a:t>
            </a:r>
            <a:r>
              <a:rPr lang="fr-FR" sz="1200" b="0" dirty="0">
                <a:solidFill>
                  <a:srgbClr val="225588"/>
                </a:solidFill>
                <a:effectLst/>
                <a:latin typeface="Consolas" panose="020B0609020204030204" pitchFamily="49" charset="0"/>
              </a:rPr>
              <a:t>=</a:t>
            </a:r>
            <a:r>
              <a:rPr lang="fr-FR" sz="1200" b="0" dirty="0">
                <a:solidFill>
                  <a:srgbClr val="6688CC"/>
                </a:solidFill>
                <a:effectLst/>
                <a:latin typeface="Consolas" panose="020B0609020204030204" pitchFamily="49" charset="0"/>
              </a:rPr>
              <a:t> </a:t>
            </a:r>
            <a:r>
              <a:rPr lang="fr-FR" sz="1200" b="0" u="sng" dirty="0" err="1">
                <a:solidFill>
                  <a:srgbClr val="FFEEBB"/>
                </a:solidFill>
                <a:effectLst/>
                <a:latin typeface="Consolas" panose="020B0609020204030204" pitchFamily="49" charset="0"/>
              </a:rPr>
              <a:t>LinearRegression</a:t>
            </a:r>
            <a:r>
              <a:rPr lang="fr-FR" sz="1200" b="0" dirty="0">
                <a:solidFill>
                  <a:srgbClr val="6688CC"/>
                </a:solidFill>
                <a:effectLst/>
                <a:latin typeface="Consolas" panose="020B0609020204030204" pitchFamily="49" charset="0"/>
              </a:rPr>
              <a:t>()</a:t>
            </a:r>
            <a:br>
              <a:rPr lang="fr-FR" sz="1200" b="0" dirty="0">
                <a:solidFill>
                  <a:srgbClr val="6688CC"/>
                </a:solidFill>
                <a:effectLst/>
                <a:latin typeface="Consolas" panose="020B0609020204030204" pitchFamily="49" charset="0"/>
              </a:rPr>
            </a:br>
            <a:r>
              <a:rPr lang="fr-FR" sz="1200" b="0" dirty="0" err="1">
                <a:solidFill>
                  <a:srgbClr val="6688CC"/>
                </a:solidFill>
                <a:effectLst/>
                <a:latin typeface="Consolas" panose="020B0609020204030204" pitchFamily="49" charset="0"/>
              </a:rPr>
              <a:t>model.</a:t>
            </a:r>
            <a:r>
              <a:rPr lang="fr-FR" sz="1200" b="0" dirty="0" err="1">
                <a:solidFill>
                  <a:srgbClr val="DDBB88"/>
                </a:solidFill>
                <a:effectLst/>
                <a:latin typeface="Consolas" panose="020B0609020204030204" pitchFamily="49" charset="0"/>
              </a:rPr>
              <a:t>fit</a:t>
            </a:r>
            <a:r>
              <a:rPr lang="fr-FR" sz="1200" b="0" dirty="0">
                <a:solidFill>
                  <a:srgbClr val="6688CC"/>
                </a:solidFill>
                <a:effectLst/>
                <a:latin typeface="Consolas" panose="020B0609020204030204" pitchFamily="49" charset="0"/>
              </a:rPr>
              <a:t>(</a:t>
            </a:r>
            <a:r>
              <a:rPr lang="fr-FR" sz="1200" b="0" dirty="0" err="1">
                <a:solidFill>
                  <a:srgbClr val="6688CC"/>
                </a:solidFill>
                <a:effectLst/>
                <a:latin typeface="Consolas" panose="020B0609020204030204" pitchFamily="49" charset="0"/>
              </a:rPr>
              <a:t>X_train</a:t>
            </a:r>
            <a:r>
              <a:rPr lang="fr-FR" sz="1200" b="0" dirty="0">
                <a:solidFill>
                  <a:srgbClr val="6688CC"/>
                </a:solidFill>
                <a:effectLst/>
                <a:latin typeface="Consolas" panose="020B0609020204030204" pitchFamily="49" charset="0"/>
              </a:rPr>
              <a:t>, </a:t>
            </a:r>
            <a:r>
              <a:rPr lang="fr-FR" sz="1200" b="0" dirty="0" err="1">
                <a:solidFill>
                  <a:srgbClr val="6688CC"/>
                </a:solidFill>
                <a:effectLst/>
                <a:latin typeface="Consolas" panose="020B0609020204030204" pitchFamily="49" charset="0"/>
              </a:rPr>
              <a:t>y_train</a:t>
            </a:r>
            <a:r>
              <a:rPr lang="fr-FR" sz="1200" b="0" dirty="0">
                <a:solidFill>
                  <a:srgbClr val="6688CC"/>
                </a:solidFill>
                <a:effectLst/>
                <a:latin typeface="Consolas" panose="020B0609020204030204" pitchFamily="49" charset="0"/>
              </a:rPr>
              <a:t>)</a:t>
            </a:r>
          </a:p>
          <a:p>
            <a:pPr marL="0" indent="0">
              <a:buNone/>
            </a:pPr>
            <a:endParaRPr lang="en-US" sz="1200" dirty="0"/>
          </a:p>
        </p:txBody>
      </p:sp>
      <p:sp>
        <p:nvSpPr>
          <p:cNvPr id="5" name="Text 3"/>
          <p:cNvSpPr/>
          <p:nvPr/>
        </p:nvSpPr>
        <p:spPr>
          <a:xfrm>
            <a:off x="457200" y="1581912"/>
            <a:ext cx="8229600" cy="365760"/>
          </a:xfrm>
          <a:prstGeom prst="rect">
            <a:avLst/>
          </a:prstGeom>
          <a:noFill/>
          <a:ln/>
        </p:spPr>
        <p:txBody>
          <a:bodyPr wrap="square" lIns="0" tIns="0" rIns="0" bIns="0"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This is where the actual machine learning happens — and it's just two lines of code!</a:t>
            </a:r>
            <a:endParaRPr lang="en-US" sz="1400" dirty="0"/>
          </a:p>
        </p:txBody>
      </p:sp>
      <p:sp>
        <p:nvSpPr>
          <p:cNvPr id="6" name="Text 4"/>
          <p:cNvSpPr/>
          <p:nvPr/>
        </p:nvSpPr>
        <p:spPr>
          <a:xfrm>
            <a:off x="457200" y="1901952"/>
            <a:ext cx="8229600" cy="658368"/>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The first line creates a blank Linear Regression model. The second line — model.fit() — feeds it the training data and tells it to find the best straight line that fits through all those points. After this runs, the model has learned two things:</a:t>
            </a:r>
            <a:endParaRPr lang="en-US" sz="1300" dirty="0"/>
          </a:p>
        </p:txBody>
      </p:sp>
      <p:sp>
        <p:nvSpPr>
          <p:cNvPr id="7" name="Text 5"/>
          <p:cNvSpPr/>
          <p:nvPr/>
        </p:nvSpPr>
        <p:spPr>
          <a:xfrm>
            <a:off x="731520" y="2670048"/>
            <a:ext cx="7863840" cy="530352"/>
          </a:xfrm>
          <a:prstGeom prst="rect">
            <a:avLst/>
          </a:prstGeom>
          <a:noFill/>
          <a:ln/>
        </p:spPr>
        <p:txBody>
          <a:bodyPr wrap="square" lIns="0" tIns="0" rIns="0" bIns="0" rtlCol="0" anchor="ctr"/>
          <a:lstStyle/>
          <a:p>
            <a:pPr marL="0" indent="0">
              <a:buNone/>
            </a:pPr>
            <a:endParaRPr lang="en-US" sz="1300" dirty="0"/>
          </a:p>
        </p:txBody>
      </p:sp>
      <p:sp>
        <p:nvSpPr>
          <p:cNvPr id="10" name="Shape 2">
            <a:extLst>
              <a:ext uri="{FF2B5EF4-FFF2-40B4-BE49-F238E27FC236}">
                <a16:creationId xmlns:a16="http://schemas.microsoft.com/office/drawing/2014/main" id="{8CE20030-8607-4187-AE55-612C2683527E}"/>
              </a:ext>
            </a:extLst>
          </p:cNvPr>
          <p:cNvSpPr/>
          <p:nvPr/>
        </p:nvSpPr>
        <p:spPr>
          <a:xfrm>
            <a:off x="457200" y="174580"/>
            <a:ext cx="4114800" cy="538652"/>
          </a:xfrm>
          <a:prstGeom prst="rect">
            <a:avLst/>
          </a:prstGeom>
          <a:solidFill>
            <a:srgbClr val="10B981"/>
          </a:solidFill>
          <a:ln w="12700">
            <a:solidFill>
              <a:srgbClr val="0B7B56"/>
            </a:solidFill>
            <a:prstDash val="solid"/>
          </a:ln>
        </p:spPr>
      </p:sp>
      <p:sp>
        <p:nvSpPr>
          <p:cNvPr id="11" name="TextBox 10">
            <a:extLst>
              <a:ext uri="{FF2B5EF4-FFF2-40B4-BE49-F238E27FC236}">
                <a16:creationId xmlns:a16="http://schemas.microsoft.com/office/drawing/2014/main" id="{2F1853E2-94D7-4584-A2EA-21BC62759CE2}"/>
              </a:ext>
            </a:extLst>
          </p:cNvPr>
          <p:cNvSpPr txBox="1"/>
          <p:nvPr/>
        </p:nvSpPr>
        <p:spPr>
          <a:xfrm>
            <a:off x="457200" y="242664"/>
            <a:ext cx="3238835" cy="400110"/>
          </a:xfrm>
          <a:prstGeom prst="rect">
            <a:avLst/>
          </a:prstGeom>
          <a:noFill/>
        </p:spPr>
        <p:txBody>
          <a:bodyPr wrap="none" rtlCol="0">
            <a:spAutoFit/>
          </a:bodyPr>
          <a:lstStyle/>
          <a:p>
            <a:r>
              <a:rPr lang="en-US" sz="2000" b="1" dirty="0">
                <a:solidFill>
                  <a:srgbClr val="14532D"/>
                </a:solidFill>
                <a:latin typeface="Calibri" pitchFamily="34" charset="0"/>
                <a:ea typeface="Calibri" pitchFamily="34" charset="-122"/>
                <a:cs typeface="Calibri" pitchFamily="34" charset="-120"/>
              </a:rPr>
              <a:t>Cell 6  —  Training the Model</a:t>
            </a:r>
            <a:endParaRPr lang="en-IN" sz="2000" dirty="0"/>
          </a:p>
        </p:txBody>
      </p:sp>
      <p:pic>
        <p:nvPicPr>
          <p:cNvPr id="13" name="Picture 12">
            <a:extLst>
              <a:ext uri="{FF2B5EF4-FFF2-40B4-BE49-F238E27FC236}">
                <a16:creationId xmlns:a16="http://schemas.microsoft.com/office/drawing/2014/main" id="{9160B20F-1F38-4963-8B4A-468D7579EFAB}"/>
              </a:ext>
            </a:extLst>
          </p:cNvPr>
          <p:cNvPicPr>
            <a:picLocks noChangeAspect="1"/>
          </p:cNvPicPr>
          <p:nvPr/>
        </p:nvPicPr>
        <p:blipFill>
          <a:blip r:embed="rId3"/>
          <a:stretch>
            <a:fillRect/>
          </a:stretch>
        </p:blipFill>
        <p:spPr>
          <a:xfrm>
            <a:off x="731520" y="2583181"/>
            <a:ext cx="1878253" cy="22765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chemeClr val="accent5">
            <a:lumMod val="20000"/>
            <a:lumOff val="80000"/>
            <a:alpha val="62000"/>
          </a:schemeClr>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marL="0" indent="0">
              <a:buNone/>
            </a:pPr>
            <a:r>
              <a:rPr lang="en-US" sz="2200" b="1" dirty="0">
                <a:solidFill>
                  <a:srgbClr val="111827"/>
                </a:solidFill>
                <a:latin typeface="Calibri" pitchFamily="34" charset="0"/>
                <a:ea typeface="Calibri" pitchFamily="34" charset="-122"/>
                <a:cs typeface="Calibri" pitchFamily="34" charset="-120"/>
              </a:rPr>
              <a:t>Cell 7  —  Making Predictions &amp; Checking Accuracy</a:t>
            </a:r>
            <a:endParaRPr lang="en-US" sz="2200" dirty="0"/>
          </a:p>
        </p:txBody>
      </p:sp>
      <p:sp>
        <p:nvSpPr>
          <p:cNvPr id="3" name="Shape 1"/>
          <p:cNvSpPr/>
          <p:nvPr/>
        </p:nvSpPr>
        <p:spPr>
          <a:xfrm>
            <a:off x="457200" y="749808"/>
            <a:ext cx="4572000" cy="1508760"/>
          </a:xfrm>
          <a:prstGeom prst="rect">
            <a:avLst/>
          </a:prstGeom>
          <a:solidFill>
            <a:srgbClr val="1F2937"/>
          </a:solidFill>
          <a:ln w="12700">
            <a:solidFill>
              <a:srgbClr val="374151"/>
            </a:solidFill>
            <a:prstDash val="solid"/>
          </a:ln>
        </p:spPr>
      </p:sp>
      <p:sp>
        <p:nvSpPr>
          <p:cNvPr id="4" name="Text 2"/>
          <p:cNvSpPr/>
          <p:nvPr/>
        </p:nvSpPr>
        <p:spPr>
          <a:xfrm>
            <a:off x="594360" y="822960"/>
            <a:ext cx="4297680" cy="1371600"/>
          </a:xfrm>
          <a:prstGeom prst="rect">
            <a:avLst/>
          </a:prstGeom>
          <a:noFill/>
          <a:ln/>
        </p:spPr>
        <p:txBody>
          <a:bodyPr wrap="square" lIns="0" tIns="0" rIns="0" bIns="0" rtlCol="0" anchor="t"/>
          <a:lstStyle/>
          <a:p>
            <a:r>
              <a:rPr lang="en-IN" sz="1050" b="0" dirty="0" err="1">
                <a:solidFill>
                  <a:srgbClr val="6688CC"/>
                </a:solidFill>
                <a:effectLst/>
                <a:latin typeface="Consolas" panose="020B0609020204030204" pitchFamily="49" charset="0"/>
              </a:rPr>
              <a:t>y_pred</a:t>
            </a:r>
            <a:r>
              <a:rPr lang="en-IN" sz="1050" b="0" dirty="0">
                <a:solidFill>
                  <a:srgbClr val="6688CC"/>
                </a:solidFill>
                <a:effectLst/>
                <a:latin typeface="Consolas" panose="020B0609020204030204" pitchFamily="49" charset="0"/>
              </a:rPr>
              <a:t> </a:t>
            </a:r>
            <a:r>
              <a:rPr lang="en-IN" sz="1050" b="0" dirty="0">
                <a:solidFill>
                  <a:srgbClr val="225588"/>
                </a:solidFill>
                <a:effectLst/>
                <a:latin typeface="Consolas" panose="020B0609020204030204" pitchFamily="49" charset="0"/>
              </a:rPr>
              <a:t>=</a:t>
            </a:r>
            <a:r>
              <a:rPr lang="en-IN" sz="1050" b="0" dirty="0">
                <a:solidFill>
                  <a:srgbClr val="6688CC"/>
                </a:solidFill>
                <a:effectLst/>
                <a:latin typeface="Consolas" panose="020B0609020204030204" pitchFamily="49" charset="0"/>
              </a:rPr>
              <a:t> </a:t>
            </a:r>
            <a:r>
              <a:rPr lang="en-IN" sz="1050" b="0" dirty="0" err="1">
                <a:solidFill>
                  <a:srgbClr val="6688CC"/>
                </a:solidFill>
                <a:effectLst/>
                <a:latin typeface="Consolas" panose="020B0609020204030204" pitchFamily="49" charset="0"/>
              </a:rPr>
              <a:t>model.</a:t>
            </a:r>
            <a:r>
              <a:rPr lang="en-IN" sz="1050" b="0" dirty="0" err="1">
                <a:solidFill>
                  <a:srgbClr val="DDBB88"/>
                </a:solidFill>
                <a:effectLst/>
                <a:latin typeface="Consolas" panose="020B0609020204030204" pitchFamily="49" charset="0"/>
              </a:rPr>
              <a:t>predict</a:t>
            </a:r>
            <a:r>
              <a:rPr lang="en-IN" sz="1050" b="0" dirty="0">
                <a:solidFill>
                  <a:srgbClr val="6688CC"/>
                </a:solidFill>
                <a:effectLst/>
                <a:latin typeface="Consolas" panose="020B0609020204030204" pitchFamily="49" charset="0"/>
              </a:rPr>
              <a:t>(</a:t>
            </a:r>
            <a:r>
              <a:rPr lang="en-IN" sz="1050" b="0" dirty="0" err="1">
                <a:solidFill>
                  <a:srgbClr val="6688CC"/>
                </a:solidFill>
                <a:effectLst/>
                <a:latin typeface="Consolas" panose="020B0609020204030204" pitchFamily="49" charset="0"/>
              </a:rPr>
              <a:t>X_test</a:t>
            </a:r>
            <a:r>
              <a:rPr lang="en-IN" sz="1050" b="0" dirty="0">
                <a:solidFill>
                  <a:srgbClr val="6688CC"/>
                </a:solidFill>
                <a:effectLst/>
                <a:latin typeface="Consolas" panose="020B0609020204030204" pitchFamily="49" charset="0"/>
              </a:rPr>
              <a:t>)</a:t>
            </a:r>
          </a:p>
          <a:p>
            <a:br>
              <a:rPr lang="en-IN" sz="1050" b="0" dirty="0">
                <a:solidFill>
                  <a:srgbClr val="6688CC"/>
                </a:solidFill>
                <a:effectLst/>
                <a:latin typeface="Consolas" panose="020B0609020204030204" pitchFamily="49" charset="0"/>
              </a:rPr>
            </a:br>
            <a:r>
              <a:rPr lang="en-IN" sz="1050" b="0" dirty="0">
                <a:solidFill>
                  <a:srgbClr val="DDBB88"/>
                </a:solidFill>
                <a:effectLst/>
                <a:latin typeface="Consolas" panose="020B0609020204030204" pitchFamily="49" charset="0"/>
              </a:rPr>
              <a:t>print</a:t>
            </a:r>
            <a:r>
              <a:rPr lang="en-IN" sz="1050" b="0" dirty="0">
                <a:solidFill>
                  <a:srgbClr val="6688CC"/>
                </a:solidFill>
                <a:effectLst/>
                <a:latin typeface="Consolas" panose="020B0609020204030204" pitchFamily="49" charset="0"/>
              </a:rPr>
              <a:t>(</a:t>
            </a:r>
            <a:r>
              <a:rPr lang="en-IN" sz="1050" b="0" dirty="0">
                <a:solidFill>
                  <a:srgbClr val="22AA44"/>
                </a:solidFill>
                <a:effectLst/>
                <a:latin typeface="Consolas" panose="020B0609020204030204" pitchFamily="49" charset="0"/>
              </a:rPr>
              <a:t>"Model Coefficients:"</a:t>
            </a:r>
            <a:r>
              <a:rPr lang="en-IN" sz="1050" b="0" dirty="0">
                <a:solidFill>
                  <a:srgbClr val="6688CC"/>
                </a:solidFill>
                <a:effectLst/>
                <a:latin typeface="Consolas" panose="020B0609020204030204" pitchFamily="49" charset="0"/>
              </a:rPr>
              <a:t>, </a:t>
            </a:r>
            <a:r>
              <a:rPr lang="en-IN" sz="1050" b="0" dirty="0" err="1">
                <a:solidFill>
                  <a:srgbClr val="6688CC"/>
                </a:solidFill>
                <a:effectLst/>
                <a:latin typeface="Consolas" panose="020B0609020204030204" pitchFamily="49" charset="0"/>
              </a:rPr>
              <a:t>model.coef</a:t>
            </a:r>
            <a:r>
              <a:rPr lang="en-IN" sz="1050" b="0" dirty="0">
                <a:solidFill>
                  <a:srgbClr val="6688CC"/>
                </a:solidFill>
                <a:effectLst/>
                <a:latin typeface="Consolas" panose="020B0609020204030204" pitchFamily="49" charset="0"/>
              </a:rPr>
              <a:t>_)</a:t>
            </a:r>
          </a:p>
          <a:p>
            <a:r>
              <a:rPr lang="en-IN" sz="1050" b="0" dirty="0">
                <a:solidFill>
                  <a:srgbClr val="DDBB88"/>
                </a:solidFill>
                <a:effectLst/>
                <a:latin typeface="Consolas" panose="020B0609020204030204" pitchFamily="49" charset="0"/>
              </a:rPr>
              <a:t>print</a:t>
            </a:r>
            <a:r>
              <a:rPr lang="en-IN" sz="1050" b="0" dirty="0">
                <a:solidFill>
                  <a:srgbClr val="6688CC"/>
                </a:solidFill>
                <a:effectLst/>
                <a:latin typeface="Consolas" panose="020B0609020204030204" pitchFamily="49" charset="0"/>
              </a:rPr>
              <a:t>(</a:t>
            </a:r>
            <a:r>
              <a:rPr lang="en-IN" sz="1050" b="0" dirty="0">
                <a:solidFill>
                  <a:srgbClr val="22AA44"/>
                </a:solidFill>
                <a:effectLst/>
                <a:latin typeface="Consolas" panose="020B0609020204030204" pitchFamily="49" charset="0"/>
              </a:rPr>
              <a:t>"Model Intercept:"</a:t>
            </a:r>
            <a:r>
              <a:rPr lang="en-IN" sz="1050" b="0" dirty="0">
                <a:solidFill>
                  <a:srgbClr val="6688CC"/>
                </a:solidFill>
                <a:effectLst/>
                <a:latin typeface="Consolas" panose="020B0609020204030204" pitchFamily="49" charset="0"/>
              </a:rPr>
              <a:t>, </a:t>
            </a:r>
            <a:r>
              <a:rPr lang="en-IN" sz="1050" b="0" dirty="0" err="1">
                <a:solidFill>
                  <a:srgbClr val="6688CC"/>
                </a:solidFill>
                <a:effectLst/>
                <a:latin typeface="Consolas" panose="020B0609020204030204" pitchFamily="49" charset="0"/>
              </a:rPr>
              <a:t>model.intercept</a:t>
            </a:r>
            <a:r>
              <a:rPr lang="en-IN" sz="1050" b="0" dirty="0">
                <a:solidFill>
                  <a:srgbClr val="6688CC"/>
                </a:solidFill>
                <a:effectLst/>
                <a:latin typeface="Consolas" panose="020B0609020204030204" pitchFamily="49" charset="0"/>
              </a:rPr>
              <a:t>_)</a:t>
            </a:r>
          </a:p>
          <a:p>
            <a:br>
              <a:rPr lang="en-IN" sz="1050" b="0" dirty="0">
                <a:solidFill>
                  <a:srgbClr val="6688CC"/>
                </a:solidFill>
                <a:effectLst/>
                <a:latin typeface="Consolas" panose="020B0609020204030204" pitchFamily="49" charset="0"/>
              </a:rPr>
            </a:br>
            <a:r>
              <a:rPr lang="en-IN" sz="1050" b="0" dirty="0">
                <a:solidFill>
                  <a:srgbClr val="DDBB88"/>
                </a:solidFill>
                <a:effectLst/>
                <a:latin typeface="Consolas" panose="020B0609020204030204" pitchFamily="49" charset="0"/>
              </a:rPr>
              <a:t>print</a:t>
            </a:r>
            <a:r>
              <a:rPr lang="en-IN" sz="1050" b="0" dirty="0">
                <a:solidFill>
                  <a:srgbClr val="6688CC"/>
                </a:solidFill>
                <a:effectLst/>
                <a:latin typeface="Consolas" panose="020B0609020204030204" pitchFamily="49" charset="0"/>
              </a:rPr>
              <a:t>(</a:t>
            </a:r>
            <a:r>
              <a:rPr lang="en-IN" sz="1050" b="0" dirty="0">
                <a:solidFill>
                  <a:srgbClr val="22AA44"/>
                </a:solidFill>
                <a:effectLst/>
                <a:latin typeface="Consolas" panose="020B0609020204030204" pitchFamily="49" charset="0"/>
              </a:rPr>
              <a:t>"Mean Squared Error:"</a:t>
            </a:r>
            <a:r>
              <a:rPr lang="en-IN" sz="1050" b="0" dirty="0">
                <a:solidFill>
                  <a:srgbClr val="6688CC"/>
                </a:solidFill>
                <a:effectLst/>
                <a:latin typeface="Consolas" panose="020B0609020204030204" pitchFamily="49" charset="0"/>
              </a:rPr>
              <a:t>, </a:t>
            </a:r>
            <a:r>
              <a:rPr lang="en-IN" sz="1050" b="0" dirty="0" err="1">
                <a:solidFill>
                  <a:srgbClr val="DDBB88"/>
                </a:solidFill>
                <a:effectLst/>
                <a:latin typeface="Consolas" panose="020B0609020204030204" pitchFamily="49" charset="0"/>
              </a:rPr>
              <a:t>mean_squared_error</a:t>
            </a:r>
            <a:r>
              <a:rPr lang="en-IN" sz="1050" b="0" dirty="0">
                <a:solidFill>
                  <a:srgbClr val="6688CC"/>
                </a:solidFill>
                <a:effectLst/>
                <a:latin typeface="Consolas" panose="020B0609020204030204" pitchFamily="49" charset="0"/>
              </a:rPr>
              <a:t>(</a:t>
            </a:r>
            <a:r>
              <a:rPr lang="en-IN" sz="1050" b="0" dirty="0" err="1">
                <a:solidFill>
                  <a:srgbClr val="6688CC"/>
                </a:solidFill>
                <a:effectLst/>
                <a:latin typeface="Consolas" panose="020B0609020204030204" pitchFamily="49" charset="0"/>
              </a:rPr>
              <a:t>y_test</a:t>
            </a:r>
            <a:r>
              <a:rPr lang="en-IN" sz="1050" b="0" dirty="0">
                <a:solidFill>
                  <a:srgbClr val="6688CC"/>
                </a:solidFill>
                <a:effectLst/>
                <a:latin typeface="Consolas" panose="020B0609020204030204" pitchFamily="49" charset="0"/>
              </a:rPr>
              <a:t>, </a:t>
            </a:r>
            <a:r>
              <a:rPr lang="en-IN" sz="1050" b="0" dirty="0" err="1">
                <a:solidFill>
                  <a:srgbClr val="6688CC"/>
                </a:solidFill>
                <a:effectLst/>
                <a:latin typeface="Consolas" panose="020B0609020204030204" pitchFamily="49" charset="0"/>
              </a:rPr>
              <a:t>y_pred</a:t>
            </a:r>
            <a:r>
              <a:rPr lang="en-IN" sz="1050" b="0" dirty="0">
                <a:solidFill>
                  <a:srgbClr val="6688CC"/>
                </a:solidFill>
                <a:effectLst/>
                <a:latin typeface="Consolas" panose="020B0609020204030204" pitchFamily="49" charset="0"/>
              </a:rPr>
              <a:t>))</a:t>
            </a:r>
          </a:p>
          <a:p>
            <a:r>
              <a:rPr lang="en-IN" sz="1050" b="0" dirty="0">
                <a:solidFill>
                  <a:srgbClr val="DDBB88"/>
                </a:solidFill>
                <a:effectLst/>
                <a:latin typeface="Consolas" panose="020B0609020204030204" pitchFamily="49" charset="0"/>
              </a:rPr>
              <a:t>print</a:t>
            </a:r>
            <a:r>
              <a:rPr lang="en-IN" sz="1050" b="0" dirty="0">
                <a:solidFill>
                  <a:srgbClr val="6688CC"/>
                </a:solidFill>
                <a:effectLst/>
                <a:latin typeface="Consolas" panose="020B0609020204030204" pitchFamily="49" charset="0"/>
              </a:rPr>
              <a:t>(</a:t>
            </a:r>
            <a:r>
              <a:rPr lang="en-IN" sz="1050" b="0" dirty="0">
                <a:solidFill>
                  <a:srgbClr val="22AA44"/>
                </a:solidFill>
                <a:effectLst/>
                <a:latin typeface="Consolas" panose="020B0609020204030204" pitchFamily="49" charset="0"/>
              </a:rPr>
              <a:t>"R2 Score:"</a:t>
            </a:r>
            <a:r>
              <a:rPr lang="en-IN" sz="1050" b="0" dirty="0">
                <a:solidFill>
                  <a:srgbClr val="6688CC"/>
                </a:solidFill>
                <a:effectLst/>
                <a:latin typeface="Consolas" panose="020B0609020204030204" pitchFamily="49" charset="0"/>
              </a:rPr>
              <a:t>, </a:t>
            </a:r>
            <a:r>
              <a:rPr lang="en-IN" sz="1050" b="0" dirty="0">
                <a:solidFill>
                  <a:srgbClr val="DDBB88"/>
                </a:solidFill>
                <a:effectLst/>
                <a:latin typeface="Consolas" panose="020B0609020204030204" pitchFamily="49" charset="0"/>
              </a:rPr>
              <a:t>r2_score</a:t>
            </a:r>
            <a:r>
              <a:rPr lang="en-IN" sz="1050" b="0" dirty="0">
                <a:solidFill>
                  <a:srgbClr val="6688CC"/>
                </a:solidFill>
                <a:effectLst/>
                <a:latin typeface="Consolas" panose="020B0609020204030204" pitchFamily="49" charset="0"/>
              </a:rPr>
              <a:t>(</a:t>
            </a:r>
            <a:r>
              <a:rPr lang="en-IN" sz="1050" b="0" dirty="0" err="1">
                <a:solidFill>
                  <a:srgbClr val="6688CC"/>
                </a:solidFill>
                <a:effectLst/>
                <a:latin typeface="Consolas" panose="020B0609020204030204" pitchFamily="49" charset="0"/>
              </a:rPr>
              <a:t>y_test</a:t>
            </a:r>
            <a:r>
              <a:rPr lang="en-IN" sz="1050" b="0" dirty="0">
                <a:solidFill>
                  <a:srgbClr val="6688CC"/>
                </a:solidFill>
                <a:effectLst/>
                <a:latin typeface="Consolas" panose="020B0609020204030204" pitchFamily="49" charset="0"/>
              </a:rPr>
              <a:t>, </a:t>
            </a:r>
            <a:r>
              <a:rPr lang="en-IN" sz="1050" b="0" dirty="0" err="1">
                <a:solidFill>
                  <a:srgbClr val="6688CC"/>
                </a:solidFill>
                <a:effectLst/>
                <a:latin typeface="Consolas" panose="020B0609020204030204" pitchFamily="49" charset="0"/>
              </a:rPr>
              <a:t>y_pred</a:t>
            </a:r>
            <a:r>
              <a:rPr lang="en-IN" sz="1050" b="0" dirty="0">
                <a:solidFill>
                  <a:srgbClr val="6688CC"/>
                </a:solidFill>
                <a:effectLst/>
                <a:latin typeface="Consolas" panose="020B0609020204030204" pitchFamily="49" charset="0"/>
              </a:rPr>
              <a:t>))</a:t>
            </a:r>
          </a:p>
          <a:p>
            <a:pPr marL="0" indent="0">
              <a:buNone/>
            </a:pPr>
            <a:endParaRPr lang="en-US" sz="1050" dirty="0"/>
          </a:p>
        </p:txBody>
      </p:sp>
      <p:sp>
        <p:nvSpPr>
          <p:cNvPr id="5" name="Text 3"/>
          <p:cNvSpPr/>
          <p:nvPr/>
        </p:nvSpPr>
        <p:spPr>
          <a:xfrm>
            <a:off x="5212080" y="749808"/>
            <a:ext cx="3657600" cy="274320"/>
          </a:xfrm>
          <a:prstGeom prst="rect">
            <a:avLst/>
          </a:prstGeom>
          <a:noFill/>
          <a:ln/>
        </p:spPr>
        <p:txBody>
          <a:bodyPr wrap="square" lIns="0" tIns="0" rIns="0" bIns="0"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Output:</a:t>
            </a:r>
            <a:endParaRPr lang="en-US" sz="1200" dirty="0"/>
          </a:p>
        </p:txBody>
      </p:sp>
      <p:sp>
        <p:nvSpPr>
          <p:cNvPr id="6" name="Shape 4"/>
          <p:cNvSpPr/>
          <p:nvPr/>
        </p:nvSpPr>
        <p:spPr>
          <a:xfrm>
            <a:off x="5212080" y="1051560"/>
            <a:ext cx="3657600" cy="1188720"/>
          </a:xfrm>
          <a:prstGeom prst="rect">
            <a:avLst/>
          </a:prstGeom>
          <a:solidFill>
            <a:schemeClr val="accent6">
              <a:lumMod val="40000"/>
              <a:lumOff val="60000"/>
              <a:alpha val="47000"/>
            </a:schemeClr>
          </a:solidFill>
          <a:ln w="12700">
            <a:solidFill>
              <a:srgbClr val="BBF7D0"/>
            </a:solidFill>
            <a:prstDash val="solid"/>
          </a:ln>
        </p:spPr>
      </p:sp>
      <p:sp>
        <p:nvSpPr>
          <p:cNvPr id="7" name="Text 5"/>
          <p:cNvSpPr/>
          <p:nvPr/>
        </p:nvSpPr>
        <p:spPr>
          <a:xfrm>
            <a:off x="5349240" y="1115568"/>
            <a:ext cx="3383280" cy="1051560"/>
          </a:xfrm>
          <a:prstGeom prst="rect">
            <a:avLst/>
          </a:prstGeom>
          <a:noFill/>
          <a:ln/>
        </p:spPr>
        <p:txBody>
          <a:bodyPr wrap="square" lIns="0" tIns="0" rIns="0" bIns="0" rtlCol="0" anchor="t"/>
          <a:lstStyle/>
          <a:p>
            <a:pPr marL="0" indent="0">
              <a:buNone/>
            </a:pPr>
            <a:r>
              <a:rPr lang="en-IN" sz="1100" b="0" i="0" dirty="0">
                <a:solidFill>
                  <a:srgbClr val="6688CC"/>
                </a:solidFill>
                <a:effectLst/>
                <a:latin typeface="Consolas" panose="020B0609020204030204" pitchFamily="49" charset="0"/>
              </a:rPr>
              <a:t>Model Coefficients: [-1.41680304 0.0509647 23.90179566 10.50994118 -2.75280588] Model Intercept: 89.43769162289092 Mean Squared Error: 1440.4587992795266 R2 Score: 0.11872197310029198</a:t>
            </a:r>
            <a:endParaRPr lang="en-US" sz="1100" dirty="0"/>
          </a:p>
        </p:txBody>
      </p:sp>
      <p:sp>
        <p:nvSpPr>
          <p:cNvPr id="8" name="Text 6"/>
          <p:cNvSpPr/>
          <p:nvPr/>
        </p:nvSpPr>
        <p:spPr>
          <a:xfrm>
            <a:off x="457200" y="2395728"/>
            <a:ext cx="8229600" cy="347472"/>
          </a:xfrm>
          <a:prstGeom prst="rect">
            <a:avLst/>
          </a:prstGeom>
          <a:noFill/>
          <a:ln/>
        </p:spPr>
        <p:txBody>
          <a:bodyPr wrap="square" lIns="0" tIns="0" rIns="0" bIns="0"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What do these numbers mean?</a:t>
            </a:r>
            <a:endParaRPr lang="en-US" sz="1400" dirty="0"/>
          </a:p>
        </p:txBody>
      </p:sp>
      <p:sp>
        <p:nvSpPr>
          <p:cNvPr id="9" name="Text 7"/>
          <p:cNvSpPr/>
          <p:nvPr/>
        </p:nvSpPr>
        <p:spPr>
          <a:xfrm>
            <a:off x="457200" y="2813609"/>
            <a:ext cx="8229600" cy="502920"/>
          </a:xfrm>
          <a:prstGeom prst="rect">
            <a:avLst/>
          </a:prstGeom>
          <a:noFill/>
          <a:ln/>
        </p:spPr>
        <p:txBody>
          <a:bodyPr wrap="square" lIns="0" tIns="0" rIns="0" bIns="0" rtlCol="0" anchor="ctr"/>
          <a:lstStyle/>
          <a:p>
            <a:pPr marL="0" indent="0">
              <a:buNone/>
            </a:pPr>
            <a:r>
              <a:rPr lang="en-GB" sz="1300" dirty="0"/>
              <a:t>The model has multiple coefficients: [-1.41680304, 0.0589647, 23.90179566, 10.50994118, -2.75280588], each representing how much salary changes per unit increase in the corresponding feature. The intercept is 89.44, which is where the line starts when all features are zero. Together they form our prediction formula.</a:t>
            </a:r>
            <a:endParaRPr lang="en-US" sz="1300" dirty="0"/>
          </a:p>
        </p:txBody>
      </p:sp>
      <p:sp>
        <p:nvSpPr>
          <p:cNvPr id="10" name="Text 8"/>
          <p:cNvSpPr/>
          <p:nvPr/>
        </p:nvSpPr>
        <p:spPr>
          <a:xfrm>
            <a:off x="457200" y="3671316"/>
            <a:ext cx="8229600" cy="685800"/>
          </a:xfrm>
          <a:prstGeom prst="rect">
            <a:avLst/>
          </a:prstGeom>
          <a:noFill/>
          <a:ln/>
        </p:spPr>
        <p:txBody>
          <a:bodyPr wrap="square" lIns="0" tIns="0" rIns="0" bIns="0" rtlCol="0" anchor="ctr"/>
          <a:lstStyle/>
          <a:p>
            <a:pPr marL="0" indent="0">
              <a:buNone/>
            </a:pPr>
            <a:r>
              <a:rPr lang="en-GB" sz="1300" dirty="0"/>
              <a:t>The Mean Squared Error (MSE) measures how far off our predictions are on average. Our MSE of approximately 1,440 means we're off by about ±$37.95 on average — which is actually pretty decent for a beginner project.</a:t>
            </a:r>
          </a:p>
          <a:p>
            <a:pPr marL="0" indent="0">
              <a:buNone/>
            </a:pPr>
            <a:endParaRPr lang="en-GB" sz="1300" dirty="0"/>
          </a:p>
          <a:p>
            <a:pPr marL="0" indent="0">
              <a:buNone/>
            </a:pPr>
            <a:r>
              <a:rPr lang="en-GB" sz="1300" dirty="0"/>
              <a:t>The R2 Score of 0.1187 tells us that the model explains about 11.87% of the variance in the data. This is relatively low, suggesting there may be other important features not yet included in the model that could improve predictions.</a:t>
            </a:r>
            <a:endParaRPr lang="en-US" sz="1300" dirty="0"/>
          </a:p>
        </p:txBody>
      </p:sp>
      <p:sp>
        <p:nvSpPr>
          <p:cNvPr id="11" name="Shape 1">
            <a:extLst>
              <a:ext uri="{FF2B5EF4-FFF2-40B4-BE49-F238E27FC236}">
                <a16:creationId xmlns:a16="http://schemas.microsoft.com/office/drawing/2014/main" id="{42D6BF24-0752-4EDA-BD79-58984392B355}"/>
              </a:ext>
            </a:extLst>
          </p:cNvPr>
          <p:cNvSpPr/>
          <p:nvPr/>
        </p:nvSpPr>
        <p:spPr>
          <a:xfrm>
            <a:off x="318887" y="142647"/>
            <a:ext cx="6081913" cy="502919"/>
          </a:xfrm>
          <a:prstGeom prst="rect">
            <a:avLst/>
          </a:prstGeom>
          <a:solidFill>
            <a:schemeClr val="accent5">
              <a:lumMod val="60000"/>
              <a:lumOff val="40000"/>
              <a:alpha val="68000"/>
            </a:schemeClr>
          </a:solidFill>
          <a:ln w="12700">
            <a:solidFill>
              <a:srgbClr val="FFFFF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accent6">
            <a:lumMod val="20000"/>
            <a:lumOff val="80000"/>
            <a:alpha val="47000"/>
          </a:schemeClr>
        </a:solidFill>
        <a:effectLst/>
      </p:bgPr>
    </p:bg>
    <p:spTree>
      <p:nvGrpSpPr>
        <p:cNvPr id="1" name=""/>
        <p:cNvGrpSpPr/>
        <p:nvPr/>
      </p:nvGrpSpPr>
      <p:grpSpPr>
        <a:xfrm>
          <a:off x="0" y="0"/>
          <a:ext cx="0" cy="0"/>
          <a:chOff x="0" y="0"/>
          <a:chExt cx="0" cy="0"/>
        </a:xfrm>
      </p:grpSpPr>
      <p:sp>
        <p:nvSpPr>
          <p:cNvPr id="2" name="Text 0"/>
          <p:cNvSpPr/>
          <p:nvPr/>
        </p:nvSpPr>
        <p:spPr>
          <a:xfrm>
            <a:off x="457200" y="91440"/>
            <a:ext cx="4572000" cy="438912"/>
          </a:xfrm>
          <a:prstGeom prst="rect">
            <a:avLst/>
          </a:prstGeom>
          <a:noFill/>
          <a:ln/>
        </p:spPr>
        <p:txBody>
          <a:bodyPr wrap="square" lIns="0" tIns="0" rIns="0" bIns="0" rtlCol="0" anchor="ctr"/>
          <a:lstStyle/>
          <a:p>
            <a:pPr marL="0" indent="0">
              <a:buNone/>
            </a:pPr>
            <a:endParaRPr lang="en-US" sz="2200" dirty="0"/>
          </a:p>
        </p:txBody>
      </p:sp>
      <p:sp>
        <p:nvSpPr>
          <p:cNvPr id="3" name="Shape 1"/>
          <p:cNvSpPr/>
          <p:nvPr/>
        </p:nvSpPr>
        <p:spPr>
          <a:xfrm>
            <a:off x="457200" y="735426"/>
            <a:ext cx="3840480" cy="1819656"/>
          </a:xfrm>
          <a:prstGeom prst="rect">
            <a:avLst/>
          </a:prstGeom>
          <a:solidFill>
            <a:srgbClr val="1F2937"/>
          </a:solidFill>
          <a:ln w="12700">
            <a:solidFill>
              <a:srgbClr val="374151"/>
            </a:solidFill>
            <a:prstDash val="solid"/>
          </a:ln>
        </p:spPr>
      </p:sp>
      <p:sp>
        <p:nvSpPr>
          <p:cNvPr id="4" name="Text 2"/>
          <p:cNvSpPr/>
          <p:nvPr/>
        </p:nvSpPr>
        <p:spPr>
          <a:xfrm>
            <a:off x="594360" y="852220"/>
            <a:ext cx="3566160" cy="1133856"/>
          </a:xfrm>
          <a:prstGeom prst="rect">
            <a:avLst/>
          </a:prstGeom>
          <a:noFill/>
          <a:ln/>
        </p:spPr>
        <p:txBody>
          <a:bodyPr wrap="square" lIns="0" tIns="0" rIns="0" bIns="0" rtlCol="0" anchor="t"/>
          <a:lstStyle/>
          <a:p>
            <a:r>
              <a:rPr lang="en-IN" sz="1000" b="0" u="sng" dirty="0" err="1">
                <a:solidFill>
                  <a:srgbClr val="FFEEBB"/>
                </a:solidFill>
                <a:effectLst/>
                <a:latin typeface="Consolas" panose="020B0609020204030204" pitchFamily="49" charset="0"/>
              </a:rPr>
              <a:t>plt</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scatter</a:t>
            </a:r>
            <a:r>
              <a:rPr lang="en-IN" sz="1000" b="0" dirty="0">
                <a:solidFill>
                  <a:srgbClr val="6688CC"/>
                </a:solidFill>
                <a:effectLst/>
                <a:latin typeface="Consolas" panose="020B0609020204030204" pitchFamily="49" charset="0"/>
              </a:rPr>
              <a:t>(</a:t>
            </a:r>
            <a:r>
              <a:rPr lang="en-IN" sz="1000" b="0" dirty="0" err="1">
                <a:solidFill>
                  <a:srgbClr val="6688CC"/>
                </a:solidFill>
                <a:effectLst/>
                <a:latin typeface="Consolas" panose="020B0609020204030204" pitchFamily="49" charset="0"/>
              </a:rPr>
              <a:t>y_test</a:t>
            </a:r>
            <a:r>
              <a:rPr lang="en-IN" sz="1000" b="0" dirty="0">
                <a:solidFill>
                  <a:srgbClr val="6688CC"/>
                </a:solidFill>
                <a:effectLst/>
                <a:latin typeface="Consolas" panose="020B0609020204030204" pitchFamily="49" charset="0"/>
              </a:rPr>
              <a:t>, </a:t>
            </a:r>
            <a:r>
              <a:rPr lang="en-IN" sz="1000" b="0" dirty="0" err="1">
                <a:solidFill>
                  <a:srgbClr val="6688CC"/>
                </a:solidFill>
                <a:effectLst/>
                <a:latin typeface="Consolas" panose="020B0609020204030204" pitchFamily="49" charset="0"/>
              </a:rPr>
              <a:t>y_pred</a:t>
            </a:r>
            <a:r>
              <a:rPr lang="en-IN" sz="1000" b="0" dirty="0">
                <a:solidFill>
                  <a:srgbClr val="6688CC"/>
                </a:solidFill>
                <a:effectLst/>
                <a:latin typeface="Consolas" panose="020B0609020204030204" pitchFamily="49" charset="0"/>
              </a:rPr>
              <a:t>)</a:t>
            </a:r>
          </a:p>
          <a:p>
            <a:br>
              <a:rPr lang="en-IN" sz="1000" b="0" dirty="0">
                <a:solidFill>
                  <a:srgbClr val="6688CC"/>
                </a:solidFill>
                <a:effectLst/>
                <a:latin typeface="Consolas" panose="020B0609020204030204" pitchFamily="49" charset="0"/>
              </a:rPr>
            </a:br>
            <a:r>
              <a:rPr lang="en-IN" sz="1000" b="0" u="sng" dirty="0" err="1">
                <a:solidFill>
                  <a:srgbClr val="FFEEBB"/>
                </a:solidFill>
                <a:effectLst/>
                <a:latin typeface="Consolas" panose="020B0609020204030204" pitchFamily="49" charset="0"/>
              </a:rPr>
              <a:t>plt</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xlabel</a:t>
            </a:r>
            <a:r>
              <a:rPr lang="en-IN" sz="1000" b="0" dirty="0">
                <a:solidFill>
                  <a:srgbClr val="6688CC"/>
                </a:solidFill>
                <a:effectLst/>
                <a:latin typeface="Consolas" panose="020B0609020204030204" pitchFamily="49" charset="0"/>
              </a:rPr>
              <a:t>(</a:t>
            </a:r>
            <a:r>
              <a:rPr lang="en-IN" sz="1000" b="0" dirty="0">
                <a:solidFill>
                  <a:srgbClr val="22AA44"/>
                </a:solidFill>
                <a:effectLst/>
                <a:latin typeface="Consolas" panose="020B0609020204030204" pitchFamily="49" charset="0"/>
              </a:rPr>
              <a:t>"Actual Salary"</a:t>
            </a:r>
            <a:r>
              <a:rPr lang="en-IN" sz="1000" b="0" dirty="0">
                <a:solidFill>
                  <a:srgbClr val="6688CC"/>
                </a:solidFill>
                <a:effectLst/>
                <a:latin typeface="Consolas" panose="020B0609020204030204" pitchFamily="49" charset="0"/>
              </a:rPr>
              <a:t>)</a:t>
            </a:r>
          </a:p>
          <a:p>
            <a:r>
              <a:rPr lang="en-IN" sz="1000" b="0" u="sng" dirty="0" err="1">
                <a:solidFill>
                  <a:srgbClr val="FFEEBB"/>
                </a:solidFill>
                <a:effectLst/>
                <a:latin typeface="Consolas" panose="020B0609020204030204" pitchFamily="49" charset="0"/>
              </a:rPr>
              <a:t>plt</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ylabel</a:t>
            </a:r>
            <a:r>
              <a:rPr lang="en-IN" sz="1000" b="0" dirty="0">
                <a:solidFill>
                  <a:srgbClr val="6688CC"/>
                </a:solidFill>
                <a:effectLst/>
                <a:latin typeface="Consolas" panose="020B0609020204030204" pitchFamily="49" charset="0"/>
              </a:rPr>
              <a:t>(</a:t>
            </a:r>
            <a:r>
              <a:rPr lang="en-IN" sz="1000" b="0" dirty="0">
                <a:solidFill>
                  <a:srgbClr val="22AA44"/>
                </a:solidFill>
                <a:effectLst/>
                <a:latin typeface="Consolas" panose="020B0609020204030204" pitchFamily="49" charset="0"/>
              </a:rPr>
              <a:t>"Predicted Salary"</a:t>
            </a:r>
            <a:r>
              <a:rPr lang="en-IN" sz="1000" b="0" dirty="0">
                <a:solidFill>
                  <a:srgbClr val="6688CC"/>
                </a:solidFill>
                <a:effectLst/>
                <a:latin typeface="Consolas" panose="020B0609020204030204" pitchFamily="49" charset="0"/>
              </a:rPr>
              <a:t>)</a:t>
            </a:r>
          </a:p>
          <a:p>
            <a:r>
              <a:rPr lang="en-IN" sz="1000" b="0" u="sng" dirty="0" err="1">
                <a:solidFill>
                  <a:srgbClr val="FFEEBB"/>
                </a:solidFill>
                <a:effectLst/>
                <a:latin typeface="Consolas" panose="020B0609020204030204" pitchFamily="49" charset="0"/>
              </a:rPr>
              <a:t>plt</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title</a:t>
            </a:r>
            <a:r>
              <a:rPr lang="en-IN" sz="1000" b="0" dirty="0">
                <a:solidFill>
                  <a:srgbClr val="6688CC"/>
                </a:solidFill>
                <a:effectLst/>
                <a:latin typeface="Consolas" panose="020B0609020204030204" pitchFamily="49" charset="0"/>
              </a:rPr>
              <a:t>(</a:t>
            </a:r>
            <a:r>
              <a:rPr lang="en-IN" sz="1000" b="0" dirty="0">
                <a:solidFill>
                  <a:srgbClr val="22AA44"/>
                </a:solidFill>
                <a:effectLst/>
                <a:latin typeface="Consolas" panose="020B0609020204030204" pitchFamily="49" charset="0"/>
              </a:rPr>
              <a:t>"Actual vs Predicted Salary (Regression Model)"</a:t>
            </a:r>
            <a:r>
              <a:rPr lang="en-IN" sz="1000" b="0" dirty="0">
                <a:solidFill>
                  <a:srgbClr val="6688CC"/>
                </a:solidFill>
                <a:effectLst/>
                <a:latin typeface="Consolas" panose="020B0609020204030204" pitchFamily="49" charset="0"/>
              </a:rPr>
              <a:t>)</a:t>
            </a:r>
            <a:br>
              <a:rPr lang="en-IN" sz="1000" b="0" dirty="0">
                <a:solidFill>
                  <a:srgbClr val="6688CC"/>
                </a:solidFill>
                <a:effectLst/>
                <a:latin typeface="Consolas" panose="020B0609020204030204" pitchFamily="49" charset="0"/>
              </a:rPr>
            </a:br>
            <a:r>
              <a:rPr lang="en-IN" sz="1000" b="0" dirty="0">
                <a:solidFill>
                  <a:srgbClr val="6688CC"/>
                </a:solidFill>
                <a:effectLst/>
                <a:latin typeface="Consolas" panose="020B0609020204030204" pitchFamily="49" charset="0"/>
              </a:rPr>
              <a:t>m, b </a:t>
            </a:r>
            <a:r>
              <a:rPr lang="en-IN" sz="1000" b="0" dirty="0">
                <a:solidFill>
                  <a:srgbClr val="225588"/>
                </a:solidFill>
                <a:effectLst/>
                <a:latin typeface="Consolas" panose="020B0609020204030204" pitchFamily="49" charset="0"/>
              </a:rPr>
              <a:t>=</a:t>
            </a:r>
            <a:r>
              <a:rPr lang="en-IN" sz="1000" b="0" dirty="0">
                <a:solidFill>
                  <a:srgbClr val="6688CC"/>
                </a:solidFill>
                <a:effectLst/>
                <a:latin typeface="Consolas" panose="020B0609020204030204" pitchFamily="49" charset="0"/>
              </a:rPr>
              <a:t> </a:t>
            </a:r>
            <a:r>
              <a:rPr lang="en-IN" sz="1000" b="0" u="sng" dirty="0" err="1">
                <a:solidFill>
                  <a:srgbClr val="FFEEBB"/>
                </a:solidFill>
                <a:effectLst/>
                <a:latin typeface="Consolas" panose="020B0609020204030204" pitchFamily="49" charset="0"/>
              </a:rPr>
              <a:t>np</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polyfit</a:t>
            </a:r>
            <a:r>
              <a:rPr lang="en-IN" sz="1000" b="0" dirty="0">
                <a:solidFill>
                  <a:srgbClr val="6688CC"/>
                </a:solidFill>
                <a:effectLst/>
                <a:latin typeface="Consolas" panose="020B0609020204030204" pitchFamily="49" charset="0"/>
              </a:rPr>
              <a:t>(</a:t>
            </a:r>
            <a:r>
              <a:rPr lang="en-IN" sz="1000" b="0" dirty="0" err="1">
                <a:solidFill>
                  <a:srgbClr val="6688CC"/>
                </a:solidFill>
                <a:effectLst/>
                <a:latin typeface="Consolas" panose="020B0609020204030204" pitchFamily="49" charset="0"/>
              </a:rPr>
              <a:t>y_test</a:t>
            </a:r>
            <a:r>
              <a:rPr lang="en-IN" sz="1000" b="0" dirty="0">
                <a:solidFill>
                  <a:srgbClr val="6688CC"/>
                </a:solidFill>
                <a:effectLst/>
                <a:latin typeface="Consolas" panose="020B0609020204030204" pitchFamily="49" charset="0"/>
              </a:rPr>
              <a:t>, </a:t>
            </a:r>
            <a:r>
              <a:rPr lang="en-IN" sz="1000" b="0" dirty="0" err="1">
                <a:solidFill>
                  <a:srgbClr val="6688CC"/>
                </a:solidFill>
                <a:effectLst/>
                <a:latin typeface="Consolas" panose="020B0609020204030204" pitchFamily="49" charset="0"/>
              </a:rPr>
              <a:t>y_pred</a:t>
            </a:r>
            <a:r>
              <a:rPr lang="en-IN" sz="1000" b="0" dirty="0">
                <a:solidFill>
                  <a:srgbClr val="6688CC"/>
                </a:solidFill>
                <a:effectLst/>
                <a:latin typeface="Consolas" panose="020B0609020204030204" pitchFamily="49" charset="0"/>
              </a:rPr>
              <a:t>, </a:t>
            </a:r>
            <a:r>
              <a:rPr lang="en-IN" sz="1000" b="0" dirty="0">
                <a:solidFill>
                  <a:srgbClr val="F280D0"/>
                </a:solidFill>
                <a:effectLst/>
                <a:latin typeface="Consolas" panose="020B0609020204030204" pitchFamily="49" charset="0"/>
              </a:rPr>
              <a:t>1</a:t>
            </a:r>
            <a:r>
              <a:rPr lang="en-IN" sz="1000" b="0" dirty="0">
                <a:solidFill>
                  <a:srgbClr val="6688CC"/>
                </a:solidFill>
                <a:effectLst/>
                <a:latin typeface="Consolas" panose="020B0609020204030204" pitchFamily="49" charset="0"/>
              </a:rPr>
              <a:t>)</a:t>
            </a:r>
          </a:p>
          <a:p>
            <a:r>
              <a:rPr lang="en-IN" sz="1000" b="0" u="sng" dirty="0" err="1">
                <a:solidFill>
                  <a:srgbClr val="FFEEBB"/>
                </a:solidFill>
                <a:effectLst/>
                <a:latin typeface="Consolas" panose="020B0609020204030204" pitchFamily="49" charset="0"/>
              </a:rPr>
              <a:t>plt</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plot</a:t>
            </a:r>
            <a:r>
              <a:rPr lang="en-IN" sz="1000" b="0" dirty="0">
                <a:solidFill>
                  <a:srgbClr val="6688CC"/>
                </a:solidFill>
                <a:effectLst/>
                <a:latin typeface="Consolas" panose="020B0609020204030204" pitchFamily="49" charset="0"/>
              </a:rPr>
              <a:t>(</a:t>
            </a:r>
            <a:r>
              <a:rPr lang="en-IN" sz="1000" b="0" dirty="0" err="1">
                <a:solidFill>
                  <a:srgbClr val="6688CC"/>
                </a:solidFill>
                <a:effectLst/>
                <a:latin typeface="Consolas" panose="020B0609020204030204" pitchFamily="49" charset="0"/>
              </a:rPr>
              <a:t>y_test</a:t>
            </a:r>
            <a:r>
              <a:rPr lang="en-IN" sz="1000" b="0" dirty="0">
                <a:solidFill>
                  <a:srgbClr val="6688CC"/>
                </a:solidFill>
                <a:effectLst/>
                <a:latin typeface="Consolas" panose="020B0609020204030204" pitchFamily="49" charset="0"/>
              </a:rPr>
              <a:t>, m</a:t>
            </a:r>
            <a:r>
              <a:rPr lang="en-IN" sz="1000" b="0" dirty="0">
                <a:solidFill>
                  <a:srgbClr val="225588"/>
                </a:solidFill>
                <a:effectLst/>
                <a:latin typeface="Consolas" panose="020B0609020204030204" pitchFamily="49" charset="0"/>
              </a:rPr>
              <a:t>*</a:t>
            </a:r>
            <a:r>
              <a:rPr lang="en-IN" sz="1000" b="0" dirty="0" err="1">
                <a:solidFill>
                  <a:srgbClr val="6688CC"/>
                </a:solidFill>
                <a:effectLst/>
                <a:latin typeface="Consolas" panose="020B0609020204030204" pitchFamily="49" charset="0"/>
              </a:rPr>
              <a:t>y_test</a:t>
            </a:r>
            <a:r>
              <a:rPr lang="en-IN" sz="1000" b="0" dirty="0">
                <a:solidFill>
                  <a:srgbClr val="6688CC"/>
                </a:solidFill>
                <a:effectLst/>
                <a:latin typeface="Consolas" panose="020B0609020204030204" pitchFamily="49" charset="0"/>
              </a:rPr>
              <a:t> </a:t>
            </a:r>
            <a:r>
              <a:rPr lang="en-IN" sz="1000" b="0" dirty="0">
                <a:solidFill>
                  <a:srgbClr val="225588"/>
                </a:solidFill>
                <a:effectLst/>
                <a:latin typeface="Consolas" panose="020B0609020204030204" pitchFamily="49" charset="0"/>
              </a:rPr>
              <a:t>+</a:t>
            </a:r>
            <a:r>
              <a:rPr lang="en-IN" sz="1000" b="0" dirty="0">
                <a:solidFill>
                  <a:srgbClr val="6688CC"/>
                </a:solidFill>
                <a:effectLst/>
                <a:latin typeface="Consolas" panose="020B0609020204030204" pitchFamily="49" charset="0"/>
              </a:rPr>
              <a:t> b, </a:t>
            </a:r>
            <a:r>
              <a:rPr lang="en-IN" sz="1000" b="0" i="1" dirty="0" err="1">
                <a:solidFill>
                  <a:srgbClr val="2277FF"/>
                </a:solidFill>
                <a:effectLst/>
                <a:latin typeface="Consolas" panose="020B0609020204030204" pitchFamily="49" charset="0"/>
              </a:rPr>
              <a:t>color</a:t>
            </a:r>
            <a:r>
              <a:rPr lang="en-IN" sz="1000" b="0" dirty="0">
                <a:solidFill>
                  <a:srgbClr val="225588"/>
                </a:solidFill>
                <a:effectLst/>
                <a:latin typeface="Consolas" panose="020B0609020204030204" pitchFamily="49" charset="0"/>
              </a:rPr>
              <a:t>=</a:t>
            </a:r>
            <a:r>
              <a:rPr lang="en-IN" sz="1000" b="0" dirty="0">
                <a:solidFill>
                  <a:srgbClr val="22AA44"/>
                </a:solidFill>
                <a:effectLst/>
                <a:latin typeface="Consolas" panose="020B0609020204030204" pitchFamily="49" charset="0"/>
              </a:rPr>
              <a:t>'red'</a:t>
            </a:r>
            <a:r>
              <a:rPr lang="en-IN" sz="1000" b="0" dirty="0">
                <a:solidFill>
                  <a:srgbClr val="6688CC"/>
                </a:solidFill>
                <a:effectLst/>
                <a:latin typeface="Consolas" panose="020B0609020204030204" pitchFamily="49" charset="0"/>
              </a:rPr>
              <a:t>)</a:t>
            </a:r>
          </a:p>
          <a:p>
            <a:r>
              <a:rPr lang="en-IN" sz="1000" b="0" u="sng" dirty="0" err="1">
                <a:solidFill>
                  <a:srgbClr val="FFEEBB"/>
                </a:solidFill>
                <a:effectLst/>
                <a:latin typeface="Consolas" panose="020B0609020204030204" pitchFamily="49" charset="0"/>
              </a:rPr>
              <a:t>plt</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plot</a:t>
            </a:r>
            <a:r>
              <a:rPr lang="en-IN" sz="1000" b="0" dirty="0">
                <a:solidFill>
                  <a:srgbClr val="6688CC"/>
                </a:solidFill>
                <a:effectLst/>
                <a:latin typeface="Consolas" panose="020B0609020204030204" pitchFamily="49" charset="0"/>
              </a:rPr>
              <a:t>()</a:t>
            </a:r>
          </a:p>
          <a:p>
            <a:r>
              <a:rPr lang="en-IN" sz="1000" b="0" u="sng" dirty="0" err="1">
                <a:solidFill>
                  <a:srgbClr val="FFEEBB"/>
                </a:solidFill>
                <a:effectLst/>
                <a:latin typeface="Consolas" panose="020B0609020204030204" pitchFamily="49" charset="0"/>
              </a:rPr>
              <a:t>plt</a:t>
            </a:r>
            <a:r>
              <a:rPr lang="en-IN" sz="1000" b="0" dirty="0" err="1">
                <a:solidFill>
                  <a:srgbClr val="6688CC"/>
                </a:solidFill>
                <a:effectLst/>
                <a:latin typeface="Consolas" panose="020B0609020204030204" pitchFamily="49" charset="0"/>
              </a:rPr>
              <a:t>.</a:t>
            </a:r>
            <a:r>
              <a:rPr lang="en-IN" sz="1000" b="0" dirty="0" err="1">
                <a:solidFill>
                  <a:srgbClr val="DDBB88"/>
                </a:solidFill>
                <a:effectLst/>
                <a:latin typeface="Consolas" panose="020B0609020204030204" pitchFamily="49" charset="0"/>
              </a:rPr>
              <a:t>show</a:t>
            </a:r>
            <a:r>
              <a:rPr lang="en-IN" sz="1000" b="0" dirty="0">
                <a:solidFill>
                  <a:srgbClr val="6688CC"/>
                </a:solidFill>
                <a:effectLst/>
                <a:latin typeface="Consolas" panose="020B0609020204030204" pitchFamily="49" charset="0"/>
              </a:rPr>
              <a:t>()</a:t>
            </a:r>
          </a:p>
          <a:p>
            <a:endParaRPr lang="en-US" sz="1000" dirty="0"/>
          </a:p>
        </p:txBody>
      </p:sp>
      <p:sp>
        <p:nvSpPr>
          <p:cNvPr id="7" name="Text 4"/>
          <p:cNvSpPr/>
          <p:nvPr/>
        </p:nvSpPr>
        <p:spPr>
          <a:xfrm>
            <a:off x="457200" y="2671876"/>
            <a:ext cx="4114800" cy="1514677"/>
          </a:xfrm>
          <a:prstGeom prst="rect">
            <a:avLst/>
          </a:prstGeom>
          <a:noFill/>
          <a:ln/>
        </p:spPr>
        <p:txBody>
          <a:bodyPr wrap="square" lIns="0" tIns="0" rIns="0" bIns="0" rtlCol="0" anchor="ctr"/>
          <a:lstStyle/>
          <a:p>
            <a:pPr marL="0" indent="0">
              <a:buNone/>
            </a:pPr>
            <a:r>
              <a:rPr lang="en-GB" sz="1250" dirty="0" err="1"/>
              <a:t>plt.scatter</a:t>
            </a:r>
            <a:r>
              <a:rPr lang="en-GB" sz="1250" dirty="0"/>
              <a:t>() draws all the data points, plotting the actual salary on the x-axis against the predicted salary on the y-axis. </a:t>
            </a:r>
            <a:r>
              <a:rPr lang="en-GB" sz="1250" dirty="0" err="1"/>
              <a:t>plt.plot</a:t>
            </a:r>
            <a:r>
              <a:rPr lang="en-GB" sz="1250" dirty="0"/>
              <a:t>() draws the red regression line through them. The upward slope clearly shows that as actual salary increases, the predicted salary increases too.</a:t>
            </a:r>
            <a:endParaRPr lang="en-US" sz="1250" dirty="0"/>
          </a:p>
        </p:txBody>
      </p:sp>
      <p:pic>
        <p:nvPicPr>
          <p:cNvPr id="11" name="Picture 10">
            <a:extLst>
              <a:ext uri="{FF2B5EF4-FFF2-40B4-BE49-F238E27FC236}">
                <a16:creationId xmlns:a16="http://schemas.microsoft.com/office/drawing/2014/main" id="{58E095D4-1915-40A8-8423-8553386B00FC}"/>
              </a:ext>
            </a:extLst>
          </p:cNvPr>
          <p:cNvPicPr>
            <a:picLocks noChangeAspect="1"/>
          </p:cNvPicPr>
          <p:nvPr/>
        </p:nvPicPr>
        <p:blipFill>
          <a:blip r:embed="rId3"/>
          <a:stretch>
            <a:fillRect/>
          </a:stretch>
        </p:blipFill>
        <p:spPr>
          <a:xfrm>
            <a:off x="4948087" y="852220"/>
            <a:ext cx="3540557" cy="2945869"/>
          </a:xfrm>
          <a:prstGeom prst="rect">
            <a:avLst/>
          </a:prstGeom>
        </p:spPr>
      </p:pic>
      <p:sp>
        <p:nvSpPr>
          <p:cNvPr id="8" name="Shape 1">
            <a:extLst>
              <a:ext uri="{FF2B5EF4-FFF2-40B4-BE49-F238E27FC236}">
                <a16:creationId xmlns:a16="http://schemas.microsoft.com/office/drawing/2014/main" id="{76120FF8-4AAC-4E8F-B970-611579682FD1}"/>
              </a:ext>
            </a:extLst>
          </p:cNvPr>
          <p:cNvSpPr/>
          <p:nvPr/>
        </p:nvSpPr>
        <p:spPr>
          <a:xfrm>
            <a:off x="457200" y="105156"/>
            <a:ext cx="3646074" cy="489204"/>
          </a:xfrm>
          <a:prstGeom prst="rect">
            <a:avLst/>
          </a:prstGeom>
          <a:solidFill>
            <a:srgbClr val="F59E0B">
              <a:alpha val="73000"/>
            </a:srgbClr>
          </a:solidFill>
          <a:ln w="12700">
            <a:solidFill>
              <a:srgbClr val="F59E0B"/>
            </a:solidFill>
            <a:prstDash val="solid"/>
          </a:ln>
        </p:spPr>
      </p:sp>
      <p:sp>
        <p:nvSpPr>
          <p:cNvPr id="5" name="TextBox 4">
            <a:extLst>
              <a:ext uri="{FF2B5EF4-FFF2-40B4-BE49-F238E27FC236}">
                <a16:creationId xmlns:a16="http://schemas.microsoft.com/office/drawing/2014/main" id="{7C33AEBB-73B6-4EA7-B740-A358DB187E35}"/>
              </a:ext>
            </a:extLst>
          </p:cNvPr>
          <p:cNvSpPr txBox="1"/>
          <p:nvPr/>
        </p:nvSpPr>
        <p:spPr>
          <a:xfrm>
            <a:off x="517520" y="170786"/>
            <a:ext cx="3181640" cy="400110"/>
          </a:xfrm>
          <a:prstGeom prst="rect">
            <a:avLst/>
          </a:prstGeom>
          <a:noFill/>
        </p:spPr>
        <p:txBody>
          <a:bodyPr wrap="none" rtlCol="0">
            <a:spAutoFit/>
          </a:bodyPr>
          <a:lstStyle/>
          <a:p>
            <a:r>
              <a:rPr lang="en-US" sz="2000" b="1" dirty="0">
                <a:solidFill>
                  <a:srgbClr val="111827"/>
                </a:solidFill>
                <a:latin typeface="Calibri" pitchFamily="34" charset="0"/>
                <a:ea typeface="Calibri" pitchFamily="34" charset="-122"/>
                <a:cs typeface="Calibri" pitchFamily="34" charset="-120"/>
              </a:rPr>
              <a:t>Cell 8  —  Plotting the Graph</a:t>
            </a:r>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C4ADA4">
            <a:alpha val="48000"/>
          </a:srgbClr>
        </a:solidFill>
        <a:effectLst/>
      </p:bgPr>
    </p:bg>
    <p:spTree>
      <p:nvGrpSpPr>
        <p:cNvPr id="1" name=""/>
        <p:cNvGrpSpPr/>
        <p:nvPr/>
      </p:nvGrpSpPr>
      <p:grpSpPr>
        <a:xfrm>
          <a:off x="0" y="0"/>
          <a:ext cx="0" cy="0"/>
          <a:chOff x="0" y="0"/>
          <a:chExt cx="0" cy="0"/>
        </a:xfrm>
      </p:grpSpPr>
      <p:sp>
        <p:nvSpPr>
          <p:cNvPr id="2" name="Text 0"/>
          <p:cNvSpPr/>
          <p:nvPr/>
        </p:nvSpPr>
        <p:spPr>
          <a:xfrm>
            <a:off x="457200" y="259029"/>
            <a:ext cx="6714501" cy="299754"/>
          </a:xfrm>
          <a:prstGeom prst="rect">
            <a:avLst/>
          </a:prstGeom>
          <a:noFill/>
          <a:ln/>
        </p:spPr>
        <p:txBody>
          <a:bodyPr wrap="square" lIns="0" tIns="0" rIns="0" bIns="0" rtlCol="0" anchor="ctr"/>
          <a:lstStyle/>
          <a:p>
            <a:pPr marL="0" indent="0">
              <a:buNone/>
            </a:pPr>
            <a:r>
              <a:rPr lang="en-US" sz="2400" b="1" dirty="0">
                <a:solidFill>
                  <a:srgbClr val="4C1D95"/>
                </a:solidFill>
                <a:latin typeface="Calibri" pitchFamily="34" charset="0"/>
                <a:ea typeface="Calibri" pitchFamily="34" charset="-122"/>
                <a:cs typeface="Calibri" pitchFamily="34" charset="-120"/>
              </a:rPr>
              <a:t>Cell 9  —  Testing with a New Value</a:t>
            </a:r>
            <a:endParaRPr lang="en-US" sz="2400" dirty="0"/>
          </a:p>
        </p:txBody>
      </p:sp>
      <p:sp>
        <p:nvSpPr>
          <p:cNvPr id="3" name="Shape 1"/>
          <p:cNvSpPr/>
          <p:nvPr/>
        </p:nvSpPr>
        <p:spPr>
          <a:xfrm>
            <a:off x="368834" y="841248"/>
            <a:ext cx="4203166" cy="960120"/>
          </a:xfrm>
          <a:prstGeom prst="rect">
            <a:avLst/>
          </a:prstGeom>
          <a:solidFill>
            <a:srgbClr val="1F2937"/>
          </a:solidFill>
          <a:ln w="12700">
            <a:solidFill>
              <a:srgbClr val="374151"/>
            </a:solidFill>
            <a:prstDash val="solid"/>
          </a:ln>
        </p:spPr>
      </p:sp>
      <p:sp>
        <p:nvSpPr>
          <p:cNvPr id="4" name="Text 2"/>
          <p:cNvSpPr/>
          <p:nvPr/>
        </p:nvSpPr>
        <p:spPr>
          <a:xfrm>
            <a:off x="594360" y="1009989"/>
            <a:ext cx="4069848" cy="672507"/>
          </a:xfrm>
          <a:prstGeom prst="rect">
            <a:avLst/>
          </a:prstGeom>
          <a:noFill/>
          <a:ln/>
        </p:spPr>
        <p:txBody>
          <a:bodyPr wrap="square" lIns="0" tIns="0" rIns="0" bIns="0" rtlCol="0" anchor="t"/>
          <a:lstStyle/>
          <a:p>
            <a:r>
              <a:rPr lang="en-GB" sz="1100" b="0" dirty="0">
                <a:solidFill>
                  <a:srgbClr val="6688CC"/>
                </a:solidFill>
                <a:effectLst/>
                <a:latin typeface="Consolas" panose="020B0609020204030204" pitchFamily="49" charset="0"/>
              </a:rPr>
              <a:t>sample </a:t>
            </a:r>
            <a:r>
              <a:rPr lang="en-GB" sz="1100" b="0" dirty="0">
                <a:solidFill>
                  <a:srgbClr val="225588"/>
                </a:solidFill>
                <a:effectLst/>
                <a:latin typeface="Consolas" panose="020B0609020204030204" pitchFamily="49" charset="0"/>
              </a:rPr>
              <a:t>=</a:t>
            </a:r>
            <a:r>
              <a:rPr lang="en-GB" sz="1100" b="0" dirty="0">
                <a:solidFill>
                  <a:srgbClr val="6688CC"/>
                </a:solidFill>
                <a:effectLst/>
                <a:latin typeface="Consolas" panose="020B0609020204030204" pitchFamily="49" charset="0"/>
              </a:rPr>
              <a:t> </a:t>
            </a:r>
            <a:r>
              <a:rPr lang="en-GB" sz="1100" b="0" u="sng" dirty="0" err="1">
                <a:solidFill>
                  <a:srgbClr val="FFEEBB"/>
                </a:solidFill>
                <a:effectLst/>
                <a:latin typeface="Consolas" panose="020B0609020204030204" pitchFamily="49" charset="0"/>
              </a:rPr>
              <a:t>np</a:t>
            </a:r>
            <a:r>
              <a:rPr lang="en-GB" sz="1100" b="0" dirty="0" err="1">
                <a:solidFill>
                  <a:srgbClr val="6688CC"/>
                </a:solidFill>
                <a:effectLst/>
                <a:latin typeface="Consolas" panose="020B0609020204030204" pitchFamily="49" charset="0"/>
              </a:rPr>
              <a:t>.</a:t>
            </a:r>
            <a:r>
              <a:rPr lang="en-GB" sz="1100" b="0" dirty="0" err="1">
                <a:solidFill>
                  <a:srgbClr val="DDBB88"/>
                </a:solidFill>
                <a:effectLst/>
                <a:latin typeface="Consolas" panose="020B0609020204030204" pitchFamily="49" charset="0"/>
              </a:rPr>
              <a:t>array</a:t>
            </a:r>
            <a:r>
              <a:rPr lang="en-GB" sz="1100" b="0" dirty="0">
                <a:solidFill>
                  <a:srgbClr val="6688CC"/>
                </a:solidFill>
                <a:effectLst/>
                <a:latin typeface="Consolas" panose="020B0609020204030204" pitchFamily="49" charset="0"/>
              </a:rPr>
              <a:t>([[</a:t>
            </a:r>
            <a:r>
              <a:rPr lang="en-GB" sz="1100" b="0" dirty="0">
                <a:solidFill>
                  <a:srgbClr val="F280D0"/>
                </a:solidFill>
                <a:effectLst/>
                <a:latin typeface="Consolas" panose="020B0609020204030204" pitchFamily="49" charset="0"/>
              </a:rPr>
              <a:t>4</a:t>
            </a:r>
            <a:r>
              <a:rPr lang="en-GB" sz="1100" b="0" dirty="0">
                <a:solidFill>
                  <a:srgbClr val="6688CC"/>
                </a:solidFill>
                <a:effectLst/>
                <a:latin typeface="Consolas" panose="020B0609020204030204" pitchFamily="49" charset="0"/>
              </a:rPr>
              <a:t>,</a:t>
            </a:r>
            <a:r>
              <a:rPr lang="en-GB" sz="1100" b="0" dirty="0">
                <a:solidFill>
                  <a:srgbClr val="F280D0"/>
                </a:solidFill>
                <a:effectLst/>
                <a:latin typeface="Consolas" panose="020B0609020204030204" pitchFamily="49" charset="0"/>
              </a:rPr>
              <a:t>20</a:t>
            </a:r>
            <a:r>
              <a:rPr lang="en-GB" sz="1100" b="0" dirty="0">
                <a:solidFill>
                  <a:srgbClr val="6688CC"/>
                </a:solidFill>
                <a:effectLst/>
                <a:latin typeface="Consolas" panose="020B0609020204030204" pitchFamily="49" charset="0"/>
              </a:rPr>
              <a:t>,</a:t>
            </a:r>
            <a:r>
              <a:rPr lang="en-GB" sz="1100" b="0" dirty="0">
                <a:solidFill>
                  <a:srgbClr val="F280D0"/>
                </a:solidFill>
                <a:effectLst/>
                <a:latin typeface="Consolas" panose="020B0609020204030204" pitchFamily="49" charset="0"/>
              </a:rPr>
              <a:t>1</a:t>
            </a:r>
            <a:r>
              <a:rPr lang="en-GB" sz="1100" b="0" dirty="0">
                <a:solidFill>
                  <a:srgbClr val="6688CC"/>
                </a:solidFill>
                <a:effectLst/>
                <a:latin typeface="Consolas" panose="020B0609020204030204" pitchFamily="49" charset="0"/>
              </a:rPr>
              <a:t>,</a:t>
            </a:r>
            <a:r>
              <a:rPr lang="en-GB" sz="1100" b="0" dirty="0">
                <a:solidFill>
                  <a:srgbClr val="F280D0"/>
                </a:solidFill>
                <a:effectLst/>
                <a:latin typeface="Consolas" panose="020B0609020204030204" pitchFamily="49" charset="0"/>
              </a:rPr>
              <a:t>1</a:t>
            </a:r>
            <a:r>
              <a:rPr lang="en-GB" sz="1100" b="0" dirty="0">
                <a:solidFill>
                  <a:srgbClr val="6688CC"/>
                </a:solidFill>
                <a:effectLst/>
                <a:latin typeface="Consolas" panose="020B0609020204030204" pitchFamily="49" charset="0"/>
              </a:rPr>
              <a:t>,</a:t>
            </a:r>
            <a:r>
              <a:rPr lang="en-GB" sz="1100" b="0" dirty="0">
                <a:solidFill>
                  <a:srgbClr val="F280D0"/>
                </a:solidFill>
                <a:effectLst/>
                <a:latin typeface="Consolas" panose="020B0609020204030204" pitchFamily="49" charset="0"/>
              </a:rPr>
              <a:t>1</a:t>
            </a:r>
            <a:r>
              <a:rPr lang="en-GB" sz="1100" b="0" dirty="0">
                <a:solidFill>
                  <a:srgbClr val="6688CC"/>
                </a:solidFill>
                <a:effectLst/>
                <a:latin typeface="Consolas" panose="020B0609020204030204" pitchFamily="49" charset="0"/>
              </a:rPr>
              <a:t>]])</a:t>
            </a:r>
            <a:br>
              <a:rPr lang="en-GB" sz="1100" b="0" dirty="0">
                <a:solidFill>
                  <a:srgbClr val="6688CC"/>
                </a:solidFill>
                <a:effectLst/>
                <a:latin typeface="Consolas" panose="020B0609020204030204" pitchFamily="49" charset="0"/>
              </a:rPr>
            </a:br>
            <a:r>
              <a:rPr lang="en-GB" sz="1100" b="0" dirty="0">
                <a:solidFill>
                  <a:srgbClr val="6688CC"/>
                </a:solidFill>
                <a:effectLst/>
                <a:latin typeface="Consolas" panose="020B0609020204030204" pitchFamily="49" charset="0"/>
              </a:rPr>
              <a:t>prediction </a:t>
            </a:r>
            <a:r>
              <a:rPr lang="en-GB" sz="1100" b="0" dirty="0">
                <a:solidFill>
                  <a:srgbClr val="225588"/>
                </a:solidFill>
                <a:effectLst/>
                <a:latin typeface="Consolas" panose="020B0609020204030204" pitchFamily="49" charset="0"/>
              </a:rPr>
              <a:t>=</a:t>
            </a:r>
            <a:r>
              <a:rPr lang="en-GB" sz="1100" b="0" dirty="0">
                <a:solidFill>
                  <a:srgbClr val="6688CC"/>
                </a:solidFill>
                <a:effectLst/>
                <a:latin typeface="Consolas" panose="020B0609020204030204" pitchFamily="49" charset="0"/>
              </a:rPr>
              <a:t> </a:t>
            </a:r>
            <a:r>
              <a:rPr lang="en-GB" sz="1100" b="0" dirty="0" err="1">
                <a:solidFill>
                  <a:srgbClr val="6688CC"/>
                </a:solidFill>
                <a:effectLst/>
                <a:latin typeface="Consolas" panose="020B0609020204030204" pitchFamily="49" charset="0"/>
              </a:rPr>
              <a:t>model.</a:t>
            </a:r>
            <a:r>
              <a:rPr lang="en-GB" sz="1100" b="0" dirty="0" err="1">
                <a:solidFill>
                  <a:srgbClr val="DDBB88"/>
                </a:solidFill>
                <a:effectLst/>
                <a:latin typeface="Consolas" panose="020B0609020204030204" pitchFamily="49" charset="0"/>
              </a:rPr>
              <a:t>predict</a:t>
            </a:r>
            <a:r>
              <a:rPr lang="en-GB" sz="1100" b="0" dirty="0">
                <a:solidFill>
                  <a:srgbClr val="6688CC"/>
                </a:solidFill>
                <a:effectLst/>
                <a:latin typeface="Consolas" panose="020B0609020204030204" pitchFamily="49" charset="0"/>
              </a:rPr>
              <a:t>(sample)</a:t>
            </a:r>
            <a:br>
              <a:rPr lang="en-GB" sz="1100" b="0" dirty="0">
                <a:solidFill>
                  <a:srgbClr val="6688CC"/>
                </a:solidFill>
                <a:effectLst/>
                <a:latin typeface="Consolas" panose="020B0609020204030204" pitchFamily="49" charset="0"/>
              </a:rPr>
            </a:br>
            <a:r>
              <a:rPr lang="en-GB" sz="1100" b="0" dirty="0">
                <a:solidFill>
                  <a:srgbClr val="DDBB88"/>
                </a:solidFill>
                <a:effectLst/>
                <a:latin typeface="Consolas" panose="020B0609020204030204" pitchFamily="49" charset="0"/>
              </a:rPr>
              <a:t>print</a:t>
            </a:r>
            <a:r>
              <a:rPr lang="en-GB" sz="1100" b="0" dirty="0">
                <a:solidFill>
                  <a:srgbClr val="6688CC"/>
                </a:solidFill>
                <a:effectLst/>
                <a:latin typeface="Consolas" panose="020B0609020204030204" pitchFamily="49" charset="0"/>
              </a:rPr>
              <a:t>(</a:t>
            </a:r>
            <a:r>
              <a:rPr lang="en-GB" sz="1100" b="0" dirty="0">
                <a:solidFill>
                  <a:srgbClr val="22AA44"/>
                </a:solidFill>
                <a:effectLst/>
                <a:latin typeface="Consolas" panose="020B0609020204030204" pitchFamily="49" charset="0"/>
              </a:rPr>
              <a:t>"Predicted Salary:"</a:t>
            </a:r>
            <a:r>
              <a:rPr lang="en-GB" sz="1100" b="0" dirty="0">
                <a:solidFill>
                  <a:srgbClr val="6688CC"/>
                </a:solidFill>
                <a:effectLst/>
                <a:latin typeface="Consolas" panose="020B0609020204030204" pitchFamily="49" charset="0"/>
              </a:rPr>
              <a:t>, prediction)</a:t>
            </a:r>
          </a:p>
          <a:p>
            <a:pPr marL="0" indent="0">
              <a:buNone/>
            </a:pPr>
            <a:endParaRPr lang="en-US" sz="1100" dirty="0"/>
          </a:p>
        </p:txBody>
      </p:sp>
      <p:sp>
        <p:nvSpPr>
          <p:cNvPr id="5" name="Text 3"/>
          <p:cNvSpPr/>
          <p:nvPr/>
        </p:nvSpPr>
        <p:spPr>
          <a:xfrm>
            <a:off x="457200" y="1828800"/>
            <a:ext cx="8229600" cy="384048"/>
          </a:xfrm>
          <a:prstGeom prst="rect">
            <a:avLst/>
          </a:prstGeom>
          <a:noFill/>
          <a:ln/>
        </p:spPr>
        <p:txBody>
          <a:bodyPr wrap="square" lIns="0" tIns="0" rIns="0" bIns="0" rtlCol="0" anchor="ctr"/>
          <a:lstStyle/>
          <a:p>
            <a:pPr marL="0" indent="0">
              <a:buNone/>
            </a:pPr>
            <a:r>
              <a:rPr lang="en-US" sz="1400" b="1" dirty="0">
                <a:solidFill>
                  <a:srgbClr val="6D28D9"/>
                </a:solidFill>
                <a:latin typeface="Consolas" pitchFamily="34" charset="0"/>
                <a:ea typeface="Consolas" pitchFamily="34" charset="-122"/>
                <a:cs typeface="Consolas" pitchFamily="34" charset="-120"/>
              </a:rPr>
              <a:t>Output:</a:t>
            </a:r>
            <a:r>
              <a:rPr lang="en-IN" sz="1400" b="0" i="0" dirty="0">
                <a:solidFill>
                  <a:srgbClr val="6688CC"/>
                </a:solidFill>
                <a:effectLst/>
                <a:latin typeface="Consolas" panose="020B0609020204030204" pitchFamily="49" charset="0"/>
              </a:rPr>
              <a:t>Predicted Salary: [116.44870434]</a:t>
            </a:r>
            <a:endParaRPr lang="en-US" sz="1400" dirty="0"/>
          </a:p>
        </p:txBody>
      </p:sp>
      <p:sp>
        <p:nvSpPr>
          <p:cNvPr id="6" name="Text 4"/>
          <p:cNvSpPr/>
          <p:nvPr/>
        </p:nvSpPr>
        <p:spPr>
          <a:xfrm>
            <a:off x="457200" y="2359152"/>
            <a:ext cx="8229600" cy="50292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We pass rating 4.0 as a 2D array because sklearn always expects the input in table format. The model then applies what it learned and gives us the prediction.</a:t>
            </a:r>
            <a:endParaRPr lang="en-US" sz="1300" dirty="0"/>
          </a:p>
        </p:txBody>
      </p:sp>
      <p:sp>
        <p:nvSpPr>
          <p:cNvPr id="7" name="Text 5"/>
          <p:cNvSpPr/>
          <p:nvPr/>
        </p:nvSpPr>
        <p:spPr>
          <a:xfrm>
            <a:off x="457200" y="2944368"/>
            <a:ext cx="8229600" cy="365760"/>
          </a:xfrm>
          <a:prstGeom prst="rect">
            <a:avLst/>
          </a:prstGeom>
          <a:noFill/>
          <a:ln/>
        </p:spPr>
        <p:txBody>
          <a:bodyPr wrap="square" lIns="0" tIns="0" rIns="0" bIns="0" rtlCol="0" anchor="ctr"/>
          <a:lstStyle/>
          <a:p>
            <a:pPr marL="0" indent="0">
              <a:buNone/>
            </a:pPr>
            <a:r>
              <a:rPr lang="en-US" sz="1300" b="1" dirty="0">
                <a:solidFill>
                  <a:srgbClr val="15803D"/>
                </a:solidFill>
                <a:latin typeface="Calibri" pitchFamily="34" charset="0"/>
                <a:ea typeface="Calibri" pitchFamily="34" charset="-122"/>
                <a:cs typeface="Calibri" pitchFamily="34" charset="-120"/>
              </a:rPr>
              <a:t>We can verify this manually:   15,204 × 4.0 + 19,922  =  $80,738  ✅</a:t>
            </a:r>
            <a:endParaRPr lang="en-US" sz="1300" dirty="0"/>
          </a:p>
        </p:txBody>
      </p:sp>
      <p:sp>
        <p:nvSpPr>
          <p:cNvPr id="8" name="Text 6"/>
          <p:cNvSpPr/>
          <p:nvPr/>
        </p:nvSpPr>
        <p:spPr>
          <a:xfrm>
            <a:off x="457200" y="3401568"/>
            <a:ext cx="8229600" cy="59436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The model's answer matches the formula exactly, which means it learned correctly. This is our model working in the real world</a:t>
            </a:r>
            <a:endParaRPr lang="en-US" sz="1300" dirty="0"/>
          </a:p>
        </p:txBody>
      </p:sp>
      <p:sp>
        <p:nvSpPr>
          <p:cNvPr id="9" name="Shape 8">
            <a:extLst>
              <a:ext uri="{FF2B5EF4-FFF2-40B4-BE49-F238E27FC236}">
                <a16:creationId xmlns:a16="http://schemas.microsoft.com/office/drawing/2014/main" id="{6753F24F-02F6-4ACA-A970-D82FA846B9E7}"/>
              </a:ext>
            </a:extLst>
          </p:cNvPr>
          <p:cNvSpPr/>
          <p:nvPr/>
        </p:nvSpPr>
        <p:spPr>
          <a:xfrm>
            <a:off x="368834" y="164592"/>
            <a:ext cx="4610420" cy="530352"/>
          </a:xfrm>
          <a:prstGeom prst="rect">
            <a:avLst/>
          </a:prstGeom>
          <a:solidFill>
            <a:schemeClr val="accent2">
              <a:lumMod val="40000"/>
              <a:lumOff val="60000"/>
              <a:alpha val="55000"/>
            </a:schemeClr>
          </a:solidFill>
          <a:ln w="12700">
            <a:solidFill>
              <a:srgbClr val="10B981"/>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59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w="12700">
            <a:solidFill>
              <a:srgbClr val="0891B2"/>
            </a:solidFill>
            <a:prstDash val="solid"/>
          </a:ln>
        </p:spPr>
      </p:sp>
      <p:sp>
        <p:nvSpPr>
          <p:cNvPr id="3" name="Shape 1"/>
          <p:cNvSpPr/>
          <p:nvPr/>
        </p:nvSpPr>
        <p:spPr>
          <a:xfrm>
            <a:off x="0" y="5070348"/>
            <a:ext cx="9144000" cy="73152"/>
          </a:xfrm>
          <a:prstGeom prst="rect">
            <a:avLst/>
          </a:prstGeom>
          <a:solidFill>
            <a:srgbClr val="0891B2"/>
          </a:solidFill>
          <a:ln w="12700">
            <a:solidFill>
              <a:srgbClr val="0891B2"/>
            </a:solidFill>
            <a:prstDash val="solid"/>
          </a:ln>
        </p:spPr>
      </p:sp>
      <p:sp>
        <p:nvSpPr>
          <p:cNvPr id="4" name="Shape 2"/>
          <p:cNvSpPr/>
          <p:nvPr/>
        </p:nvSpPr>
        <p:spPr>
          <a:xfrm>
            <a:off x="0" y="73152"/>
            <a:ext cx="457200" cy="4997196"/>
          </a:xfrm>
          <a:prstGeom prst="rect">
            <a:avLst/>
          </a:prstGeom>
          <a:solidFill>
            <a:srgbClr val="2563EB"/>
          </a:solidFill>
          <a:ln w="12700">
            <a:solidFill>
              <a:srgbClr val="2563EB"/>
            </a:solidFill>
            <a:prstDash val="solid"/>
          </a:ln>
        </p:spPr>
      </p:sp>
      <p:sp>
        <p:nvSpPr>
          <p:cNvPr id="5" name="Text 3"/>
          <p:cNvSpPr/>
          <p:nvPr/>
        </p:nvSpPr>
        <p:spPr>
          <a:xfrm>
            <a:off x="731520" y="1005840"/>
            <a:ext cx="7772400" cy="91440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6" name="Shape 4"/>
          <p:cNvSpPr/>
          <p:nvPr/>
        </p:nvSpPr>
        <p:spPr>
          <a:xfrm>
            <a:off x="731520" y="2011680"/>
            <a:ext cx="2743200" cy="45720"/>
          </a:xfrm>
          <a:prstGeom prst="rect">
            <a:avLst/>
          </a:prstGeom>
          <a:solidFill>
            <a:srgbClr val="0891B2"/>
          </a:solidFill>
          <a:ln w="12700">
            <a:solidFill>
              <a:srgbClr val="0891B2"/>
            </a:solidFill>
            <a:prstDash val="solid"/>
          </a:ln>
        </p:spPr>
      </p:sp>
      <p:sp>
        <p:nvSpPr>
          <p:cNvPr id="7" name="Text 5"/>
          <p:cNvSpPr/>
          <p:nvPr/>
        </p:nvSpPr>
        <p:spPr>
          <a:xfrm>
            <a:off x="731520" y="2194560"/>
            <a:ext cx="7315200" cy="411480"/>
          </a:xfrm>
          <a:prstGeom prst="rect">
            <a:avLst/>
          </a:prstGeom>
          <a:noFill/>
          <a:ln/>
        </p:spPr>
        <p:txBody>
          <a:bodyPr wrap="square" lIns="0" tIns="0" rIns="0" bIns="0" rtlCol="0" anchor="ctr"/>
          <a:lstStyle/>
          <a:p>
            <a:pPr marL="0" indent="0">
              <a:buNone/>
            </a:pPr>
            <a:r>
              <a:rPr lang="en-US" sz="1800" b="1" dirty="0">
                <a:solidFill>
                  <a:srgbClr val="93C5FD"/>
                </a:solidFill>
                <a:latin typeface="Calibri" pitchFamily="34" charset="0"/>
                <a:ea typeface="Calibri" pitchFamily="34" charset="-122"/>
                <a:cs typeface="Calibri" pitchFamily="34" charset="-120"/>
              </a:rPr>
              <a:t>Chanchal Kushwah</a:t>
            </a:r>
            <a:endParaRPr lang="en-US" sz="1800" dirty="0"/>
          </a:p>
        </p:txBody>
      </p:sp>
      <p:sp>
        <p:nvSpPr>
          <p:cNvPr id="8" name="Text 6"/>
          <p:cNvSpPr/>
          <p:nvPr/>
        </p:nvSpPr>
        <p:spPr>
          <a:xfrm>
            <a:off x="731520" y="2606040"/>
            <a:ext cx="7315200" cy="320040"/>
          </a:xfrm>
          <a:prstGeom prst="rect">
            <a:avLst/>
          </a:prstGeom>
          <a:noFill/>
          <a:ln/>
        </p:spPr>
        <p:txBody>
          <a:bodyPr wrap="square" lIns="0" tIns="0" rIns="0" bIns="0" rtlCol="0" anchor="ctr"/>
          <a:lstStyle/>
          <a:p>
            <a:pPr marL="0" indent="0">
              <a:buNone/>
            </a:pPr>
            <a:r>
              <a:rPr lang="en-US" sz="1300" dirty="0">
                <a:solidFill>
                  <a:schemeClr val="accent4">
                    <a:lumMod val="60000"/>
                    <a:lumOff val="40000"/>
                  </a:schemeClr>
                </a:solidFill>
                <a:latin typeface="Calibri" pitchFamily="34" charset="0"/>
                <a:ea typeface="Calibri" pitchFamily="34" charset="-122"/>
                <a:cs typeface="Calibri" pitchFamily="34" charset="-120"/>
              </a:rPr>
              <a:t>IBM PBEL AI Batch 8  |  Salary Prediction Using Regression</a:t>
            </a:r>
            <a:endParaRPr lang="en-US" sz="1300" dirty="0">
              <a:solidFill>
                <a:schemeClr val="accent4">
                  <a:lumMod val="60000"/>
                  <a:lumOff val="40000"/>
                </a:schemeClr>
              </a:solidFill>
            </a:endParaRPr>
          </a:p>
        </p:txBody>
      </p:sp>
      <p:sp>
        <p:nvSpPr>
          <p:cNvPr id="10" name="Text 8"/>
          <p:cNvSpPr/>
          <p:nvPr/>
        </p:nvSpPr>
        <p:spPr>
          <a:xfrm>
            <a:off x="731520" y="3291840"/>
            <a:ext cx="1828800" cy="685800"/>
          </a:xfrm>
          <a:prstGeom prst="rect">
            <a:avLst/>
          </a:prstGeom>
          <a:noFill/>
          <a:ln/>
        </p:spPr>
        <p:txBody>
          <a:bodyPr wrap="square" lIns="0" tIns="0" rIns="0" bIns="0" rtlCol="0" anchor="ctr"/>
          <a:lstStyle/>
          <a:p>
            <a:pPr marL="0" indent="0" algn="ctr">
              <a:buNone/>
            </a:pPr>
            <a:endParaRPr lang="en-US" sz="1400" dirty="0"/>
          </a:p>
        </p:txBody>
      </p:sp>
      <p:sp>
        <p:nvSpPr>
          <p:cNvPr id="11" name="Text 9"/>
          <p:cNvSpPr/>
          <p:nvPr/>
        </p:nvSpPr>
        <p:spPr>
          <a:xfrm>
            <a:off x="731520" y="4023360"/>
            <a:ext cx="1828800" cy="411480"/>
          </a:xfrm>
          <a:prstGeom prst="rect">
            <a:avLst/>
          </a:prstGeom>
          <a:noFill/>
          <a:ln/>
        </p:spPr>
        <p:txBody>
          <a:bodyPr wrap="square" lIns="0" tIns="0" rIns="0" bIns="0" rtlCol="0" anchor="ctr"/>
          <a:lstStyle/>
          <a:p>
            <a:pPr marL="0" indent="0" algn="ctr">
              <a:buNone/>
            </a:pPr>
            <a:endParaRPr lang="en-US" sz="1100" dirty="0"/>
          </a:p>
        </p:txBody>
      </p:sp>
      <p:sp>
        <p:nvSpPr>
          <p:cNvPr id="13" name="Text 11"/>
          <p:cNvSpPr/>
          <p:nvPr/>
        </p:nvSpPr>
        <p:spPr>
          <a:xfrm>
            <a:off x="2834640" y="3291840"/>
            <a:ext cx="1828800" cy="685800"/>
          </a:xfrm>
          <a:prstGeom prst="rect">
            <a:avLst/>
          </a:prstGeom>
          <a:noFill/>
          <a:ln/>
        </p:spPr>
        <p:txBody>
          <a:bodyPr wrap="square" lIns="0" tIns="0" rIns="0" bIns="0" rtlCol="0" anchor="ctr"/>
          <a:lstStyle/>
          <a:p>
            <a:pPr marL="0" indent="0" algn="ctr">
              <a:buNone/>
            </a:pPr>
            <a:endParaRPr lang="en-US" sz="1400" dirty="0"/>
          </a:p>
        </p:txBody>
      </p:sp>
      <p:sp>
        <p:nvSpPr>
          <p:cNvPr id="14" name="Text 12"/>
          <p:cNvSpPr/>
          <p:nvPr/>
        </p:nvSpPr>
        <p:spPr>
          <a:xfrm>
            <a:off x="2834640" y="4023360"/>
            <a:ext cx="1828800" cy="411480"/>
          </a:xfrm>
          <a:prstGeom prst="rect">
            <a:avLst/>
          </a:prstGeom>
          <a:noFill/>
          <a:ln/>
        </p:spPr>
        <p:txBody>
          <a:bodyPr wrap="square" lIns="0" tIns="0" rIns="0" bIns="0" rtlCol="0" anchor="ctr"/>
          <a:lstStyle/>
          <a:p>
            <a:pPr marL="0" indent="0" algn="ctr">
              <a:buNone/>
            </a:pPr>
            <a:endParaRPr lang="en-US" sz="1100" dirty="0"/>
          </a:p>
        </p:txBody>
      </p:sp>
      <p:sp>
        <p:nvSpPr>
          <p:cNvPr id="16" name="Text 14"/>
          <p:cNvSpPr/>
          <p:nvPr/>
        </p:nvSpPr>
        <p:spPr>
          <a:xfrm>
            <a:off x="4937760" y="3291840"/>
            <a:ext cx="1828800" cy="685800"/>
          </a:xfrm>
          <a:prstGeom prst="rect">
            <a:avLst/>
          </a:prstGeom>
          <a:noFill/>
          <a:ln/>
        </p:spPr>
        <p:txBody>
          <a:bodyPr wrap="square" lIns="0" tIns="0" rIns="0" bIns="0" rtlCol="0" anchor="ctr"/>
          <a:lstStyle/>
          <a:p>
            <a:pPr marL="0" indent="0" algn="ctr">
              <a:buNone/>
            </a:pPr>
            <a:endParaRPr lang="en-US" sz="1400" dirty="0"/>
          </a:p>
        </p:txBody>
      </p:sp>
      <p:sp>
        <p:nvSpPr>
          <p:cNvPr id="17" name="Text 15"/>
          <p:cNvSpPr/>
          <p:nvPr/>
        </p:nvSpPr>
        <p:spPr>
          <a:xfrm>
            <a:off x="4937760" y="4023360"/>
            <a:ext cx="1828800" cy="411480"/>
          </a:xfrm>
          <a:prstGeom prst="rect">
            <a:avLst/>
          </a:prstGeom>
          <a:noFill/>
          <a:ln/>
        </p:spPr>
        <p:txBody>
          <a:bodyPr wrap="square" lIns="0" tIns="0" rIns="0" bIns="0" rtlCol="0" anchor="ctr"/>
          <a:lstStyle/>
          <a:p>
            <a:pPr marL="0" indent="0" algn="ctr">
              <a:buNone/>
            </a:pPr>
            <a:endParaRPr lang="en-US" sz="1100" dirty="0"/>
          </a:p>
        </p:txBody>
      </p:sp>
      <p:sp>
        <p:nvSpPr>
          <p:cNvPr id="19" name="Text 17"/>
          <p:cNvSpPr/>
          <p:nvPr/>
        </p:nvSpPr>
        <p:spPr>
          <a:xfrm>
            <a:off x="7040880" y="3291840"/>
            <a:ext cx="1828800" cy="685800"/>
          </a:xfrm>
          <a:prstGeom prst="rect">
            <a:avLst/>
          </a:prstGeom>
          <a:noFill/>
          <a:ln/>
        </p:spPr>
        <p:txBody>
          <a:bodyPr wrap="square" lIns="0" tIns="0" rIns="0" bIns="0" rtlCol="0" anchor="ctr"/>
          <a:lstStyle/>
          <a:p>
            <a:pPr marL="0" indent="0" algn="ctr">
              <a:buNone/>
            </a:pPr>
            <a:endParaRPr lang="en-US" sz="1400" dirty="0"/>
          </a:p>
        </p:txBody>
      </p:sp>
      <p:sp>
        <p:nvSpPr>
          <p:cNvPr id="20" name="Text 18"/>
          <p:cNvSpPr/>
          <p:nvPr/>
        </p:nvSpPr>
        <p:spPr>
          <a:xfrm>
            <a:off x="7040880" y="4023360"/>
            <a:ext cx="1828800" cy="411480"/>
          </a:xfrm>
          <a:prstGeom prst="rect">
            <a:avLst/>
          </a:prstGeom>
          <a:noFill/>
          <a:ln/>
        </p:spPr>
        <p:txBody>
          <a:bodyPr wrap="square" lIns="0" tIns="0" rIns="0" bIns="0" rtlCol="0" anchor="ctr"/>
          <a:lstStyle/>
          <a:p>
            <a:pPr marL="0" indent="0" algn="ctr">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178</TotalTime>
  <Words>1275</Words>
  <Application>Microsoft Office PowerPoint</Application>
  <PresentationFormat>On-screen Show (16:9)</PresentationFormat>
  <Paragraphs>97</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chanchal kushwah</cp:lastModifiedBy>
  <cp:revision>17</cp:revision>
  <dcterms:created xsi:type="dcterms:W3CDTF">2026-03-12T13:25:37Z</dcterms:created>
  <dcterms:modified xsi:type="dcterms:W3CDTF">2026-03-12T17:51:39Z</dcterms:modified>
</cp:coreProperties>
</file>